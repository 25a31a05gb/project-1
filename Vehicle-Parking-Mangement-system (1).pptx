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626F52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626F52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626F52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626F52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369" y="6400558"/>
            <a:ext cx="9141460" cy="457200"/>
          </a:xfrm>
          <a:custGeom>
            <a:avLst/>
            <a:gdLst/>
            <a:ahLst/>
            <a:cxnLst/>
            <a:rect l="l" t="t" r="r" b="b"/>
            <a:pathLst>
              <a:path w="9141460" h="457200">
                <a:moveTo>
                  <a:pt x="9140995" y="0"/>
                </a:moveTo>
                <a:lnTo>
                  <a:pt x="0" y="0"/>
                </a:lnTo>
                <a:lnTo>
                  <a:pt x="0" y="456805"/>
                </a:lnTo>
                <a:lnTo>
                  <a:pt x="9140995" y="456805"/>
                </a:lnTo>
                <a:lnTo>
                  <a:pt x="9140995" y="0"/>
                </a:lnTo>
                <a:close/>
              </a:path>
            </a:pathLst>
          </a:custGeom>
          <a:solidFill>
            <a:srgbClr val="BC572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6334125"/>
            <a:ext cx="9141460" cy="64135"/>
          </a:xfrm>
          <a:custGeom>
            <a:avLst/>
            <a:gdLst/>
            <a:ahLst/>
            <a:cxnLst/>
            <a:rect l="l" t="t" r="r" b="b"/>
            <a:pathLst>
              <a:path w="9141460" h="64135">
                <a:moveTo>
                  <a:pt x="9140952" y="0"/>
                </a:moveTo>
                <a:lnTo>
                  <a:pt x="0" y="0"/>
                </a:lnTo>
                <a:lnTo>
                  <a:pt x="0" y="63957"/>
                </a:lnTo>
                <a:lnTo>
                  <a:pt x="9140952" y="63957"/>
                </a:lnTo>
                <a:lnTo>
                  <a:pt x="9140952" y="0"/>
                </a:lnTo>
                <a:close/>
              </a:path>
            </a:pathLst>
          </a:custGeom>
          <a:solidFill>
            <a:srgbClr val="E3831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83917" y="832230"/>
            <a:ext cx="4376165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626F52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2860" y="1297609"/>
            <a:ext cx="3834129" cy="22790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17317" y="310641"/>
            <a:ext cx="35845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andara"/>
                <a:cs typeface="Candara"/>
              </a:rPr>
              <a:t>Vehicle</a:t>
            </a:r>
            <a:r>
              <a:rPr dirty="0" sz="1800" spc="-40">
                <a:latin typeface="Candara"/>
                <a:cs typeface="Candara"/>
              </a:rPr>
              <a:t> </a:t>
            </a:r>
            <a:r>
              <a:rPr dirty="0" sz="1800">
                <a:latin typeface="Candara"/>
                <a:cs typeface="Candara"/>
              </a:rPr>
              <a:t>Parking</a:t>
            </a:r>
            <a:r>
              <a:rPr dirty="0" sz="1800" spc="-60">
                <a:latin typeface="Candara"/>
                <a:cs typeface="Candara"/>
              </a:rPr>
              <a:t> </a:t>
            </a:r>
            <a:r>
              <a:rPr dirty="0" sz="1800" spc="-10">
                <a:latin typeface="Candara"/>
                <a:cs typeface="Candara"/>
              </a:rPr>
              <a:t>Management</a:t>
            </a:r>
            <a:r>
              <a:rPr dirty="0" sz="1800" spc="-35">
                <a:latin typeface="Candara"/>
                <a:cs typeface="Candara"/>
              </a:rPr>
              <a:t> </a:t>
            </a:r>
            <a:r>
              <a:rPr dirty="0" sz="1800" spc="-10">
                <a:latin typeface="Candara"/>
                <a:cs typeface="Candara"/>
              </a:rPr>
              <a:t>System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MINI</a:t>
            </a:r>
            <a:r>
              <a:rPr dirty="0" spc="-55"/>
              <a:t> </a:t>
            </a:r>
            <a:r>
              <a:rPr dirty="0"/>
              <a:t>PROJECT</a:t>
            </a:r>
            <a:r>
              <a:rPr dirty="0" spc="-40"/>
              <a:t> </a:t>
            </a:r>
            <a:r>
              <a:rPr dirty="0"/>
              <a:t>USING</a:t>
            </a:r>
            <a:r>
              <a:rPr dirty="0" spc="-65"/>
              <a:t> </a:t>
            </a:r>
            <a:r>
              <a:rPr dirty="0"/>
              <a:t>C</a:t>
            </a:r>
            <a:r>
              <a:rPr dirty="0" spc="-50"/>
              <a:t> </a:t>
            </a:r>
            <a:r>
              <a:rPr dirty="0" spc="-10"/>
              <a:t>LANGUAGE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906780" y="2063750"/>
            <a:ext cx="7406640" cy="3245485"/>
            <a:chOff x="906780" y="2063750"/>
            <a:chExt cx="7406640" cy="324548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48510" y="2063750"/>
              <a:ext cx="5785866" cy="324548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06780" y="4345304"/>
              <a:ext cx="7406640" cy="0"/>
            </a:xfrm>
            <a:custGeom>
              <a:avLst/>
              <a:gdLst/>
              <a:ahLst/>
              <a:cxnLst/>
              <a:rect l="l" t="t" r="r" b="b"/>
              <a:pathLst>
                <a:path w="7406640" h="0">
                  <a:moveTo>
                    <a:pt x="0" y="0"/>
                  </a:moveTo>
                  <a:lnTo>
                    <a:pt x="7406640" y="0"/>
                  </a:lnTo>
                </a:path>
              </a:pathLst>
            </a:custGeom>
            <a:ln w="635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8219" y="356870"/>
            <a:ext cx="7066915" cy="45656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02004" y="313385"/>
            <a:ext cx="3100705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20">
                <a:solidFill>
                  <a:srgbClr val="404040"/>
                </a:solidFill>
              </a:rPr>
              <a:t>Introduction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987348" y="1466468"/>
            <a:ext cx="6988809" cy="3388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93675">
              <a:lnSpc>
                <a:spcPct val="11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Parking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management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important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aspect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modern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cities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where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large numbers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vehicles</a:t>
            </a:r>
            <a:endParaRPr sz="1800">
              <a:latin typeface="Calibri"/>
              <a:cs typeface="Calibri"/>
            </a:endParaRPr>
          </a:p>
          <a:p>
            <a:pPr marL="18415" marR="5080" indent="-6350">
              <a:lnSpc>
                <a:spcPct val="108900"/>
              </a:lnSpc>
              <a:spcBef>
                <a:spcPts val="120"/>
              </a:spcBef>
            </a:pPr>
            <a:r>
              <a:rPr dirty="0" sz="1800" spc="-10">
                <a:latin typeface="Calibri"/>
                <a:cs typeface="Calibri"/>
              </a:rPr>
              <a:t>require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organized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parking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spaces.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Manual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parking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management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often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leads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errors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vehicle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racking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billing.</a:t>
            </a:r>
            <a:endParaRPr sz="1800">
              <a:latin typeface="Calibri"/>
              <a:cs typeface="Calibri"/>
            </a:endParaRPr>
          </a:p>
          <a:p>
            <a:pPr marL="18415" marR="690245" indent="-6350">
              <a:lnSpc>
                <a:spcPct val="11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Vehicle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Parking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Management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System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designed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simplify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the </a:t>
            </a:r>
            <a:r>
              <a:rPr dirty="0" sz="1800">
                <a:latin typeface="Calibri"/>
                <a:cs typeface="Calibri"/>
              </a:rPr>
              <a:t>process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storing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vehicle</a:t>
            </a:r>
            <a:endParaRPr sz="1800">
              <a:latin typeface="Calibri"/>
              <a:cs typeface="Calibri"/>
            </a:endParaRPr>
          </a:p>
          <a:p>
            <a:pPr marL="12700" marR="398145">
              <a:lnSpc>
                <a:spcPct val="110100"/>
              </a:lnSpc>
              <a:spcBef>
                <a:spcPts val="95"/>
              </a:spcBef>
            </a:pPr>
            <a:r>
              <a:rPr dirty="0" sz="1800" spc="-10">
                <a:latin typeface="Calibri"/>
                <a:cs typeface="Calibri"/>
              </a:rPr>
              <a:t>information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calculating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parking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charges.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Using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</a:t>
            </a:r>
            <a:r>
              <a:rPr dirty="0" sz="1800" spc="-10">
                <a:latin typeface="Calibri"/>
                <a:cs typeface="Calibri"/>
              </a:rPr>
              <a:t> programming,</a:t>
            </a:r>
            <a:r>
              <a:rPr dirty="0" sz="1800" spc="-25">
                <a:latin typeface="Calibri"/>
                <a:cs typeface="Calibri"/>
              </a:rPr>
              <a:t> the </a:t>
            </a:r>
            <a:r>
              <a:rPr dirty="0" sz="1800" spc="-10">
                <a:latin typeface="Calibri"/>
                <a:cs typeface="Calibri"/>
              </a:rPr>
              <a:t>system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stores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files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retrieves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it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when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required.</a:t>
            </a:r>
            <a:endParaRPr sz="1800">
              <a:latin typeface="Calibri"/>
              <a:cs typeface="Calibri"/>
            </a:endParaRPr>
          </a:p>
          <a:p>
            <a:pPr marL="18415" marR="152400" indent="-6350">
              <a:lnSpc>
                <a:spcPct val="109500"/>
              </a:lnSpc>
              <a:spcBef>
                <a:spcPts val="105"/>
              </a:spcBef>
            </a:pPr>
            <a:r>
              <a:rPr dirty="0" sz="1800">
                <a:latin typeface="Calibri"/>
                <a:cs typeface="Calibri"/>
              </a:rPr>
              <a:t>This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project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helps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students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understand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practical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implementation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of </a:t>
            </a:r>
            <a:r>
              <a:rPr dirty="0" sz="1800" spc="-20">
                <a:latin typeface="Calibri"/>
                <a:cs typeface="Calibri"/>
              </a:rPr>
              <a:t>programming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concepts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such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structures,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file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handling,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menu-</a:t>
            </a:r>
            <a:r>
              <a:rPr dirty="0" sz="1800" spc="-10">
                <a:latin typeface="Calibri"/>
                <a:cs typeface="Calibri"/>
              </a:rPr>
              <a:t>driven programs.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5350" y="1324102"/>
            <a:ext cx="7474584" cy="0"/>
          </a:xfrm>
          <a:custGeom>
            <a:avLst/>
            <a:gdLst/>
            <a:ahLst/>
            <a:cxnLst/>
            <a:rect l="l" t="t" r="r" b="b"/>
            <a:pathLst>
              <a:path w="7474584" h="0">
                <a:moveTo>
                  <a:pt x="0" y="0"/>
                </a:moveTo>
                <a:lnTo>
                  <a:pt x="7474584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12316" y="70966"/>
            <a:ext cx="7800975" cy="4451985"/>
          </a:xfrm>
          <a:prstGeom prst="rect">
            <a:avLst/>
          </a:prstGeom>
        </p:spPr>
        <p:txBody>
          <a:bodyPr wrap="square" lIns="0" tIns="288925" rIns="0" bIns="0" rtlCol="0" vert="horz">
            <a:spAutoFit/>
          </a:bodyPr>
          <a:lstStyle/>
          <a:p>
            <a:pPr marL="716915" indent="-686435">
              <a:lnSpc>
                <a:spcPct val="100000"/>
              </a:lnSpc>
              <a:spcBef>
                <a:spcPts val="2275"/>
              </a:spcBef>
              <a:buClr>
                <a:srgbClr val="404040"/>
              </a:buClr>
              <a:buFont typeface="Symbol"/>
              <a:buChar char=""/>
              <a:tabLst>
                <a:tab pos="716915" algn="l"/>
              </a:tabLst>
            </a:pPr>
            <a:r>
              <a:rPr dirty="0" sz="4800" spc="-10">
                <a:solidFill>
                  <a:srgbClr val="404040"/>
                </a:solidFill>
                <a:latin typeface="Calibri"/>
                <a:cs typeface="Calibri"/>
              </a:rPr>
              <a:t>Objectives</a:t>
            </a:r>
            <a:endParaRPr sz="4800">
              <a:latin typeface="Calibri"/>
              <a:cs typeface="Calibri"/>
            </a:endParaRPr>
          </a:p>
          <a:p>
            <a:pPr marL="257810" indent="-227329">
              <a:lnSpc>
                <a:spcPct val="100000"/>
              </a:lnSpc>
              <a:spcBef>
                <a:spcPts val="2620"/>
              </a:spcBef>
              <a:buFont typeface="Symbol"/>
              <a:buChar char=""/>
              <a:tabLst>
                <a:tab pos="257810" algn="l"/>
                <a:tab pos="7787640" algn="l"/>
              </a:tabLst>
            </a:pPr>
            <a:r>
              <a:rPr dirty="0" u="sng" sz="1800">
                <a:uFill>
                  <a:solidFill>
                    <a:srgbClr val="7E7E7E"/>
                  </a:solidFill>
                </a:uFill>
                <a:latin typeface="Times New Roman"/>
                <a:cs typeface="Times New Roman"/>
              </a:rPr>
              <a:t>	</a:t>
            </a:r>
            <a:endParaRPr sz="1800">
              <a:latin typeface="Times New Roman"/>
              <a:cs typeface="Times New Roman"/>
            </a:endParaRPr>
          </a:p>
          <a:p>
            <a:pPr marL="259715">
              <a:lnSpc>
                <a:spcPct val="100000"/>
              </a:lnSpc>
              <a:spcBef>
                <a:spcPts val="25"/>
              </a:spcBef>
            </a:pPr>
            <a:r>
              <a:rPr dirty="0" sz="1800" spc="-65">
                <a:latin typeface="Calibri"/>
                <a:cs typeface="Calibri"/>
              </a:rPr>
              <a:t>To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design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simple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vehicle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parking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management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system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using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50">
                <a:latin typeface="Calibri"/>
                <a:cs typeface="Calibri"/>
              </a:rPr>
              <a:t>C</a:t>
            </a:r>
            <a:endParaRPr sz="1800">
              <a:latin typeface="Calibri"/>
              <a:cs typeface="Calibri"/>
            </a:endParaRPr>
          </a:p>
          <a:p>
            <a:pPr marL="259715">
              <a:lnSpc>
                <a:spcPct val="100000"/>
              </a:lnSpc>
              <a:spcBef>
                <a:spcPts val="215"/>
              </a:spcBef>
            </a:pPr>
            <a:r>
              <a:rPr dirty="0" sz="1800" spc="-10">
                <a:latin typeface="Calibri"/>
                <a:cs typeface="Calibri"/>
              </a:rPr>
              <a:t>programming.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10"/>
              </a:spcBef>
              <a:buFont typeface="Symbol"/>
              <a:buChar char=""/>
              <a:tabLst>
                <a:tab pos="240665" algn="l"/>
              </a:tabLst>
            </a:pPr>
            <a:r>
              <a:rPr dirty="0" sz="1800" spc="-65">
                <a:latin typeface="Calibri"/>
                <a:cs typeface="Calibri"/>
              </a:rPr>
              <a:t>To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store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vehicle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information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using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file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handling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95"/>
              </a:spcBef>
              <a:buFont typeface="Symbol"/>
              <a:buChar char=""/>
              <a:tabLst>
                <a:tab pos="240665" algn="l"/>
              </a:tabLst>
            </a:pPr>
            <a:r>
              <a:rPr dirty="0" sz="1800" spc="-10">
                <a:latin typeface="Calibri"/>
                <a:cs typeface="Calibri"/>
              </a:rPr>
              <a:t>techniques.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10"/>
              </a:spcBef>
              <a:buFont typeface="Symbol"/>
              <a:buChar char=""/>
              <a:tabLst>
                <a:tab pos="240665" algn="l"/>
              </a:tabLst>
            </a:pPr>
            <a:r>
              <a:rPr dirty="0" sz="1800" spc="-65">
                <a:latin typeface="Calibri"/>
                <a:cs typeface="Calibri"/>
              </a:rPr>
              <a:t>To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manage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different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types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vehicles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such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Bike,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15"/>
              </a:spcBef>
              <a:buFont typeface="Symbol"/>
              <a:buChar char=""/>
              <a:tabLst>
                <a:tab pos="240665" algn="l"/>
              </a:tabLst>
            </a:pPr>
            <a:r>
              <a:rPr dirty="0" sz="1800" spc="-25">
                <a:latin typeface="Calibri"/>
                <a:cs typeface="Calibri"/>
              </a:rPr>
              <a:t>Car,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Truck.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10"/>
              </a:spcBef>
              <a:buFont typeface="Symbol"/>
              <a:buChar char=""/>
              <a:tabLst>
                <a:tab pos="240665" algn="l"/>
              </a:tabLst>
            </a:pPr>
            <a:r>
              <a:rPr dirty="0" sz="1800" spc="-65">
                <a:latin typeface="Calibri"/>
                <a:cs typeface="Calibri"/>
              </a:rPr>
              <a:t>To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calculate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parking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charges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automatically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based</a:t>
            </a:r>
            <a:r>
              <a:rPr dirty="0" sz="1800" spc="-25">
                <a:latin typeface="Calibri"/>
                <a:cs typeface="Calibri"/>
              </a:rPr>
              <a:t> on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15"/>
              </a:spcBef>
              <a:buFont typeface="Symbol"/>
              <a:buChar char=""/>
              <a:tabLst>
                <a:tab pos="240665" algn="l"/>
              </a:tabLst>
            </a:pPr>
            <a:r>
              <a:rPr dirty="0" sz="1800">
                <a:latin typeface="Calibri"/>
                <a:cs typeface="Calibri"/>
              </a:rPr>
              <a:t>vehicle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type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hours.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90"/>
              </a:spcBef>
              <a:buFont typeface="Symbol"/>
              <a:buChar char=""/>
              <a:tabLst>
                <a:tab pos="240665" algn="l"/>
              </a:tabLst>
            </a:pPr>
            <a:r>
              <a:rPr dirty="0" sz="1800" spc="-65">
                <a:latin typeface="Calibri"/>
                <a:cs typeface="Calibri"/>
              </a:rPr>
              <a:t>To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understand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concept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modular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programming.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15"/>
              </a:spcBef>
              <a:buFont typeface="Symbol"/>
              <a:buChar char=""/>
              <a:tabLst>
                <a:tab pos="240665" algn="l"/>
              </a:tabLst>
            </a:pPr>
            <a:r>
              <a:rPr dirty="0" sz="1800" spc="-10">
                <a:latin typeface="Calibri"/>
                <a:cs typeface="Calibri"/>
              </a:rPr>
              <a:t>Software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Requirements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95350" y="4878832"/>
            <a:ext cx="7474584" cy="0"/>
          </a:xfrm>
          <a:custGeom>
            <a:avLst/>
            <a:gdLst/>
            <a:ahLst/>
            <a:cxnLst/>
            <a:rect l="l" t="t" r="r" b="b"/>
            <a:pathLst>
              <a:path w="7474584" h="0">
                <a:moveTo>
                  <a:pt x="0" y="0"/>
                </a:moveTo>
                <a:lnTo>
                  <a:pt x="7474584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5350" y="591312"/>
            <a:ext cx="7315200" cy="398894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3716" y="544956"/>
            <a:ext cx="2545715" cy="3035935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1800" spc="-10" b="1">
                <a:latin typeface="Calibri"/>
                <a:cs typeface="Calibri"/>
              </a:rPr>
              <a:t>Software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Requirements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dirty="0" sz="1800" spc="-10">
                <a:latin typeface="Calibri"/>
                <a:cs typeface="Calibri"/>
              </a:rPr>
              <a:t>Programming</a:t>
            </a:r>
            <a:r>
              <a:rPr dirty="0" sz="1800" spc="-9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Language</a:t>
            </a:r>
            <a:endParaRPr sz="1800">
              <a:latin typeface="Calibri"/>
              <a:cs typeface="Calibri"/>
            </a:endParaRPr>
          </a:p>
          <a:p>
            <a:pPr marL="12700" marR="5080" indent="164465">
              <a:lnSpc>
                <a:spcPts val="2380"/>
              </a:lnSpc>
              <a:spcBef>
                <a:spcPts val="110"/>
              </a:spcBef>
              <a:buChar char="•"/>
              <a:tabLst>
                <a:tab pos="177165" algn="l"/>
              </a:tabLst>
            </a:pPr>
            <a:r>
              <a:rPr dirty="0" sz="1800">
                <a:latin typeface="Calibri"/>
                <a:cs typeface="Calibri"/>
              </a:rPr>
              <a:t>C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Programming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Language Compiler</a:t>
            </a:r>
            <a:endParaRPr sz="1800">
              <a:latin typeface="Calibri"/>
              <a:cs typeface="Calibri"/>
            </a:endParaRPr>
          </a:p>
          <a:p>
            <a:pPr marL="177165" indent="-164465">
              <a:lnSpc>
                <a:spcPct val="100000"/>
              </a:lnSpc>
              <a:spcBef>
                <a:spcPts val="100"/>
              </a:spcBef>
              <a:buChar char="•"/>
              <a:tabLst>
                <a:tab pos="177165" algn="l"/>
              </a:tabLst>
            </a:pPr>
            <a:r>
              <a:rPr dirty="0" sz="1800" spc="-25">
                <a:latin typeface="Calibri"/>
                <a:cs typeface="Calibri"/>
              </a:rPr>
              <a:t>GCC</a:t>
            </a:r>
            <a:endParaRPr sz="1800">
              <a:latin typeface="Calibri"/>
              <a:cs typeface="Calibri"/>
            </a:endParaRPr>
          </a:p>
          <a:p>
            <a:pPr marL="177165" indent="-164465">
              <a:lnSpc>
                <a:spcPct val="100000"/>
              </a:lnSpc>
              <a:spcBef>
                <a:spcPts val="219"/>
              </a:spcBef>
              <a:buChar char="•"/>
              <a:tabLst>
                <a:tab pos="177165" algn="l"/>
              </a:tabLst>
            </a:pPr>
            <a:r>
              <a:rPr dirty="0" sz="1800" spc="-20">
                <a:latin typeface="Calibri"/>
                <a:cs typeface="Calibri"/>
              </a:rPr>
              <a:t>Turbo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 spc="-50">
                <a:latin typeface="Calibri"/>
                <a:cs typeface="Calibri"/>
              </a:rPr>
              <a:t>C</a:t>
            </a:r>
            <a:endParaRPr sz="1800">
              <a:latin typeface="Calibri"/>
              <a:cs typeface="Calibri"/>
            </a:endParaRPr>
          </a:p>
          <a:p>
            <a:pPr marL="12700" marR="892175" indent="164465">
              <a:lnSpc>
                <a:spcPts val="2380"/>
              </a:lnSpc>
              <a:spcBef>
                <a:spcPts val="85"/>
              </a:spcBef>
              <a:buChar char="•"/>
              <a:tabLst>
                <a:tab pos="177165" algn="l"/>
              </a:tabLst>
            </a:pPr>
            <a:r>
              <a:rPr dirty="0" sz="1800">
                <a:latin typeface="Calibri"/>
                <a:cs typeface="Calibri"/>
              </a:rPr>
              <a:t>Dev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C++ </a:t>
            </a:r>
            <a:r>
              <a:rPr dirty="0" sz="1800" spc="-10">
                <a:latin typeface="Calibri"/>
                <a:cs typeface="Calibri"/>
              </a:rPr>
              <a:t>Operating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System</a:t>
            </a:r>
            <a:endParaRPr sz="1800">
              <a:latin typeface="Calibri"/>
              <a:cs typeface="Calibri"/>
            </a:endParaRPr>
          </a:p>
          <a:p>
            <a:pPr marL="177165" indent="-164465">
              <a:lnSpc>
                <a:spcPct val="100000"/>
              </a:lnSpc>
              <a:spcBef>
                <a:spcPts val="100"/>
              </a:spcBef>
              <a:buChar char="•"/>
              <a:tabLst>
                <a:tab pos="177165" algn="l"/>
              </a:tabLst>
            </a:pPr>
            <a:r>
              <a:rPr dirty="0" sz="1800" spc="-10">
                <a:latin typeface="Calibri"/>
                <a:cs typeface="Calibri"/>
              </a:rPr>
              <a:t>Windows</a:t>
            </a:r>
            <a:endParaRPr sz="1800">
              <a:latin typeface="Calibri"/>
              <a:cs typeface="Calibri"/>
            </a:endParaRPr>
          </a:p>
          <a:p>
            <a:pPr marL="177165" indent="-164465">
              <a:lnSpc>
                <a:spcPct val="100000"/>
              </a:lnSpc>
              <a:spcBef>
                <a:spcPts val="215"/>
              </a:spcBef>
              <a:buChar char="•"/>
              <a:tabLst>
                <a:tab pos="177165" algn="l"/>
              </a:tabLst>
            </a:pPr>
            <a:r>
              <a:rPr dirty="0" sz="1800" spc="-10">
                <a:latin typeface="Calibri"/>
                <a:cs typeface="Calibri"/>
              </a:rPr>
              <a:t>Linux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419988"/>
            <a:ext cx="6503670" cy="3745865"/>
          </a:xfrm>
          <a:prstGeom prst="rect">
            <a:avLst/>
          </a:prstGeom>
        </p:spPr>
        <p:txBody>
          <a:bodyPr wrap="square" lIns="0" tIns="162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dirty="0" sz="1800" b="1">
                <a:latin typeface="Calibri"/>
                <a:cs typeface="Calibri"/>
              </a:rPr>
              <a:t>System</a:t>
            </a:r>
            <a:r>
              <a:rPr dirty="0" sz="1800" spc="-10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Design</a:t>
            </a:r>
            <a:endParaRPr sz="1800">
              <a:latin typeface="Calibri"/>
              <a:cs typeface="Calibri"/>
            </a:endParaRPr>
          </a:p>
          <a:p>
            <a:pPr marL="177165" indent="-164465">
              <a:lnSpc>
                <a:spcPct val="100000"/>
              </a:lnSpc>
              <a:spcBef>
                <a:spcPts val="1175"/>
              </a:spcBef>
              <a:buChar char="•"/>
              <a:tabLst>
                <a:tab pos="177165" algn="l"/>
              </a:tabLst>
            </a:pP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system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designed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using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 </a:t>
            </a:r>
            <a:r>
              <a:rPr dirty="0" sz="1800" spc="-10" b="1">
                <a:latin typeface="Calibri"/>
                <a:cs typeface="Calibri"/>
              </a:rPr>
              <a:t>menu-</a:t>
            </a:r>
            <a:r>
              <a:rPr dirty="0" sz="1800" b="1">
                <a:latin typeface="Calibri"/>
                <a:cs typeface="Calibri"/>
              </a:rPr>
              <a:t>driven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approach</a:t>
            </a:r>
            <a:r>
              <a:rPr dirty="0" sz="1800" spc="-1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12700" marR="5080" indent="164465">
              <a:lnSpc>
                <a:spcPct val="117800"/>
              </a:lnSpc>
              <a:spcBef>
                <a:spcPts val="795"/>
              </a:spcBef>
              <a:buChar char="•"/>
              <a:tabLst>
                <a:tab pos="177165" algn="l"/>
              </a:tabLst>
            </a:pPr>
            <a:r>
              <a:rPr dirty="0" sz="1800">
                <a:latin typeface="Calibri"/>
                <a:cs typeface="Calibri"/>
              </a:rPr>
              <a:t>Users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can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select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different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options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from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menu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perform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various operations.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dirty="0" sz="1800">
                <a:latin typeface="Calibri"/>
                <a:cs typeface="Calibri"/>
              </a:rPr>
              <a:t>Main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components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system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include:</a:t>
            </a:r>
            <a:endParaRPr sz="1800">
              <a:latin typeface="Calibri"/>
              <a:cs typeface="Calibri"/>
            </a:endParaRPr>
          </a:p>
          <a:p>
            <a:pPr marL="177165" indent="-164465">
              <a:lnSpc>
                <a:spcPct val="100000"/>
              </a:lnSpc>
              <a:spcBef>
                <a:spcPts val="1175"/>
              </a:spcBef>
              <a:buChar char="•"/>
              <a:tabLst>
                <a:tab pos="177165" algn="l"/>
              </a:tabLst>
            </a:pPr>
            <a:r>
              <a:rPr dirty="0" sz="1800" spc="-20">
                <a:latin typeface="Calibri"/>
                <a:cs typeface="Calibri"/>
              </a:rPr>
              <a:t>Vehicle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Storage</a:t>
            </a:r>
            <a:endParaRPr sz="1800">
              <a:latin typeface="Calibri"/>
              <a:cs typeface="Calibri"/>
            </a:endParaRPr>
          </a:p>
          <a:p>
            <a:pPr marL="177165" indent="-164465">
              <a:lnSpc>
                <a:spcPct val="100000"/>
              </a:lnSpc>
              <a:spcBef>
                <a:spcPts val="1175"/>
              </a:spcBef>
              <a:buChar char="•"/>
              <a:tabLst>
                <a:tab pos="177165" algn="l"/>
              </a:tabLst>
            </a:pPr>
            <a:r>
              <a:rPr dirty="0" sz="1800" spc="-20">
                <a:latin typeface="Calibri"/>
                <a:cs typeface="Calibri"/>
              </a:rPr>
              <a:t>Vehicle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Entry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Module</a:t>
            </a:r>
            <a:endParaRPr sz="1800">
              <a:latin typeface="Calibri"/>
              <a:cs typeface="Calibri"/>
            </a:endParaRPr>
          </a:p>
          <a:p>
            <a:pPr marL="177165" indent="-164465">
              <a:lnSpc>
                <a:spcPct val="100000"/>
              </a:lnSpc>
              <a:spcBef>
                <a:spcPts val="1205"/>
              </a:spcBef>
              <a:buChar char="•"/>
              <a:tabLst>
                <a:tab pos="177165" algn="l"/>
              </a:tabLst>
            </a:pPr>
            <a:r>
              <a:rPr dirty="0" sz="1800" spc="-20">
                <a:latin typeface="Calibri"/>
                <a:cs typeface="Calibri"/>
              </a:rPr>
              <a:t>Vehicle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Display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Module</a:t>
            </a:r>
            <a:endParaRPr sz="1800">
              <a:latin typeface="Calibri"/>
              <a:cs typeface="Calibri"/>
            </a:endParaRPr>
          </a:p>
          <a:p>
            <a:pPr marL="177165" indent="-164465">
              <a:lnSpc>
                <a:spcPct val="100000"/>
              </a:lnSpc>
              <a:spcBef>
                <a:spcPts val="1175"/>
              </a:spcBef>
              <a:buChar char="•"/>
              <a:tabLst>
                <a:tab pos="177165" algn="l"/>
              </a:tabLst>
            </a:pPr>
            <a:r>
              <a:rPr dirty="0" sz="1800">
                <a:latin typeface="Calibri"/>
                <a:cs typeface="Calibri"/>
              </a:rPr>
              <a:t>Charge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Calculation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Module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7348" y="541908"/>
            <a:ext cx="5958840" cy="3560445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1800" b="1">
                <a:latin typeface="Calibri"/>
                <a:cs typeface="Calibri"/>
              </a:rPr>
              <a:t>Data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Structure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 spc="-20" b="1">
                <a:latin typeface="Calibri"/>
                <a:cs typeface="Calibri"/>
              </a:rPr>
              <a:t>Used</a:t>
            </a:r>
            <a:endParaRPr sz="1800">
              <a:latin typeface="Calibri"/>
              <a:cs typeface="Calibri"/>
            </a:endParaRPr>
          </a:p>
          <a:p>
            <a:pPr marL="12700" marR="1155700">
              <a:lnSpc>
                <a:spcPct val="108900"/>
              </a:lnSpc>
            </a:pP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project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uses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structure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store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vehicle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details. </a:t>
            </a:r>
            <a:r>
              <a:rPr dirty="0" sz="1800">
                <a:latin typeface="Calibri"/>
                <a:cs typeface="Calibri"/>
              </a:rPr>
              <a:t>struct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Vehicle</a:t>
            </a:r>
            <a:endParaRPr sz="18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25"/>
              </a:spcBef>
            </a:pPr>
            <a:r>
              <a:rPr dirty="0" sz="1800" spc="-50">
                <a:latin typeface="Calibri"/>
                <a:cs typeface="Calibri"/>
              </a:rPr>
              <a:t>{</a:t>
            </a:r>
            <a:endParaRPr sz="1800">
              <a:latin typeface="Calibri"/>
              <a:cs typeface="Calibri"/>
            </a:endParaRPr>
          </a:p>
          <a:p>
            <a:pPr marL="225425" marR="4422140">
              <a:lnSpc>
                <a:spcPct val="104400"/>
              </a:lnSpc>
            </a:pPr>
            <a:r>
              <a:rPr dirty="0" sz="1800">
                <a:latin typeface="Calibri"/>
                <a:cs typeface="Calibri"/>
              </a:rPr>
              <a:t>int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number; </a:t>
            </a:r>
            <a:r>
              <a:rPr dirty="0" sz="1800">
                <a:latin typeface="Calibri"/>
                <a:cs typeface="Calibri"/>
              </a:rPr>
              <a:t>char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type[10];</a:t>
            </a:r>
            <a:endParaRPr sz="1800">
              <a:latin typeface="Calibri"/>
              <a:cs typeface="Calibri"/>
            </a:endParaRPr>
          </a:p>
          <a:p>
            <a:pPr marL="22542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int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hours;</a:t>
            </a:r>
            <a:endParaRPr sz="18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95"/>
              </a:spcBef>
            </a:pPr>
            <a:r>
              <a:rPr dirty="0" sz="1800" spc="-25">
                <a:latin typeface="Calibri"/>
                <a:cs typeface="Calibri"/>
              </a:rPr>
              <a:t>};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dirty="0" sz="1800" spc="-10">
                <a:latin typeface="Calibri"/>
                <a:cs typeface="Calibri"/>
              </a:rPr>
              <a:t>Structure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Fields</a:t>
            </a:r>
            <a:endParaRPr sz="1800">
              <a:latin typeface="Calibri"/>
              <a:cs typeface="Calibri"/>
            </a:endParaRPr>
          </a:p>
          <a:p>
            <a:pPr marL="177165" indent="-164465">
              <a:lnSpc>
                <a:spcPct val="100000"/>
              </a:lnSpc>
              <a:spcBef>
                <a:spcPts val="195"/>
              </a:spcBef>
              <a:buFont typeface="Calibri"/>
              <a:buChar char="•"/>
              <a:tabLst>
                <a:tab pos="177165" algn="l"/>
              </a:tabLst>
            </a:pPr>
            <a:r>
              <a:rPr dirty="0" sz="1800" spc="-10" b="1">
                <a:latin typeface="Calibri"/>
                <a:cs typeface="Calibri"/>
              </a:rPr>
              <a:t>Vehicle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Number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–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Unique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identification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number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vehicle</a:t>
            </a:r>
            <a:endParaRPr sz="1800">
              <a:latin typeface="Calibri"/>
              <a:cs typeface="Calibri"/>
            </a:endParaRPr>
          </a:p>
          <a:p>
            <a:pPr marL="177165" indent="-164465">
              <a:lnSpc>
                <a:spcPct val="100000"/>
              </a:lnSpc>
              <a:spcBef>
                <a:spcPts val="215"/>
              </a:spcBef>
              <a:buFont typeface="Calibri"/>
              <a:buChar char="•"/>
              <a:tabLst>
                <a:tab pos="177165" algn="l"/>
              </a:tabLst>
            </a:pPr>
            <a:r>
              <a:rPr dirty="0" sz="1800" spc="-10" b="1">
                <a:latin typeface="Calibri"/>
                <a:cs typeface="Calibri"/>
              </a:rPr>
              <a:t>Vehicle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Type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–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Type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vehicle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(Bike,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Car,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Truck)</a:t>
            </a:r>
            <a:endParaRPr sz="1800">
              <a:latin typeface="Calibri"/>
              <a:cs typeface="Calibri"/>
            </a:endParaRPr>
          </a:p>
          <a:p>
            <a:pPr marL="177165" indent="-164465">
              <a:lnSpc>
                <a:spcPct val="100000"/>
              </a:lnSpc>
              <a:spcBef>
                <a:spcPts val="195"/>
              </a:spcBef>
              <a:buFont typeface="Calibri"/>
              <a:buChar char="•"/>
              <a:tabLst>
                <a:tab pos="177165" algn="l"/>
              </a:tabLst>
            </a:pPr>
            <a:r>
              <a:rPr dirty="0" sz="1800" b="1">
                <a:latin typeface="Calibri"/>
                <a:cs typeface="Calibri"/>
              </a:rPr>
              <a:t>Hours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–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Duration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parking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92860" y="-34086"/>
            <a:ext cx="4037965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>
                <a:solidFill>
                  <a:srgbClr val="404040"/>
                </a:solidFill>
              </a:rPr>
              <a:t>Module </a:t>
            </a:r>
            <a:r>
              <a:rPr dirty="0" sz="4800" spc="-10">
                <a:solidFill>
                  <a:srgbClr val="404040"/>
                </a:solidFill>
              </a:rPr>
              <a:t>Division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892860" y="995349"/>
            <a:ext cx="6083935" cy="5191125"/>
          </a:xfrm>
          <a:prstGeom prst="rect">
            <a:avLst/>
          </a:prstGeom>
        </p:spPr>
        <p:txBody>
          <a:bodyPr wrap="square" lIns="0" tIns="1593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5"/>
              </a:spcBef>
            </a:pPr>
            <a:r>
              <a:rPr dirty="0" sz="2000" b="1">
                <a:solidFill>
                  <a:srgbClr val="404040"/>
                </a:solidFill>
                <a:latin typeface="Calibri"/>
                <a:cs typeface="Calibri"/>
              </a:rPr>
              <a:t>Student</a:t>
            </a:r>
            <a:r>
              <a:rPr dirty="0" sz="2000" spc="-4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404040"/>
                </a:solidFill>
                <a:latin typeface="Calibri"/>
                <a:cs typeface="Calibri"/>
              </a:rPr>
              <a:t>1</a:t>
            </a:r>
            <a:r>
              <a:rPr dirty="0" sz="2000" spc="-3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404040"/>
                </a:solidFill>
                <a:latin typeface="Calibri"/>
                <a:cs typeface="Calibri"/>
              </a:rPr>
              <a:t>–</a:t>
            </a:r>
            <a:r>
              <a:rPr dirty="0" sz="2000" spc="-5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dirty="0" sz="2000" spc="-5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404040"/>
                </a:solidFill>
                <a:latin typeface="Calibri"/>
                <a:cs typeface="Calibri"/>
              </a:rPr>
              <a:t>Structure</a:t>
            </a:r>
            <a:r>
              <a:rPr dirty="0" sz="2000" spc="-4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dirty="0" sz="2000" spc="-1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404040"/>
                </a:solidFill>
                <a:latin typeface="Calibri"/>
                <a:cs typeface="Calibri"/>
              </a:rPr>
              <a:t>File</a:t>
            </a:r>
            <a:r>
              <a:rPr dirty="0" sz="2000" spc="-5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404040"/>
                </a:solidFill>
                <a:latin typeface="Calibri"/>
                <a:cs typeface="Calibri"/>
              </a:rPr>
              <a:t>Handling</a:t>
            </a:r>
            <a:endParaRPr sz="2000">
              <a:latin typeface="Calibri"/>
              <a:cs typeface="Calibri"/>
            </a:endParaRPr>
          </a:p>
          <a:p>
            <a:pPr marL="194945" indent="-182245">
              <a:lnSpc>
                <a:spcPct val="100000"/>
              </a:lnSpc>
              <a:spcBef>
                <a:spcPts val="1155"/>
              </a:spcBef>
              <a:buChar char="•"/>
              <a:tabLst>
                <a:tab pos="194945" algn="l"/>
              </a:tabLst>
            </a:pP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Create</a:t>
            </a:r>
            <a:r>
              <a:rPr dirty="0" sz="2000" spc="-8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2000" spc="-6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404040"/>
                </a:solidFill>
                <a:latin typeface="Calibri"/>
                <a:cs typeface="Calibri"/>
              </a:rPr>
              <a:t>Vehicle</a:t>
            </a:r>
            <a:r>
              <a:rPr dirty="0" sz="2000" spc="-6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404040"/>
                </a:solidFill>
                <a:latin typeface="Calibri"/>
                <a:cs typeface="Calibri"/>
              </a:rPr>
              <a:t>structure</a:t>
            </a:r>
            <a:r>
              <a:rPr dirty="0" sz="2000" spc="-6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2000" spc="-6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store</a:t>
            </a:r>
            <a:r>
              <a:rPr dirty="0" sz="2000" spc="-7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vehicle</a:t>
            </a:r>
            <a:r>
              <a:rPr dirty="0" sz="2000" spc="-7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details.</a:t>
            </a:r>
            <a:endParaRPr sz="2000">
              <a:latin typeface="Calibri"/>
              <a:cs typeface="Calibri"/>
            </a:endParaRPr>
          </a:p>
          <a:p>
            <a:pPr marL="200660" indent="-182245">
              <a:lnSpc>
                <a:spcPct val="100000"/>
              </a:lnSpc>
              <a:spcBef>
                <a:spcPts val="240"/>
              </a:spcBef>
              <a:buChar char="•"/>
              <a:tabLst>
                <a:tab pos="200660" algn="l"/>
              </a:tabLst>
            </a:pP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Create</a:t>
            </a:r>
            <a:r>
              <a:rPr dirty="0" sz="2000" spc="-6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dirty="0" sz="20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manage</a:t>
            </a:r>
            <a:r>
              <a:rPr dirty="0" sz="2000" spc="-6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20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404040"/>
                </a:solidFill>
                <a:latin typeface="Calibri"/>
                <a:cs typeface="Calibri"/>
              </a:rPr>
              <a:t>parking</a:t>
            </a:r>
            <a:r>
              <a:rPr dirty="0" sz="2000" spc="-7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dirty="0" sz="2000" spc="-5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404040"/>
                </a:solidFill>
                <a:latin typeface="Calibri"/>
                <a:cs typeface="Calibri"/>
              </a:rPr>
              <a:t>file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200660" indent="-182245">
              <a:lnSpc>
                <a:spcPct val="100000"/>
              </a:lnSpc>
              <a:spcBef>
                <a:spcPts val="240"/>
              </a:spcBef>
              <a:buChar char="•"/>
              <a:tabLst>
                <a:tab pos="200660" algn="l"/>
              </a:tabLst>
            </a:pP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Store</a:t>
            </a:r>
            <a:r>
              <a:rPr dirty="0" sz="20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vehicle</a:t>
            </a:r>
            <a:r>
              <a:rPr dirty="0" sz="20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records</a:t>
            </a:r>
            <a:r>
              <a:rPr dirty="0" sz="2000" spc="-6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dirty="0" sz="20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20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file</a:t>
            </a:r>
            <a:r>
              <a:rPr dirty="0" sz="20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using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404040"/>
                </a:solidFill>
                <a:latin typeface="Calibri"/>
                <a:cs typeface="Calibri"/>
              </a:rPr>
              <a:t>file</a:t>
            </a:r>
            <a:r>
              <a:rPr dirty="0" sz="2000" spc="-4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404040"/>
                </a:solidFill>
                <a:latin typeface="Calibri"/>
                <a:cs typeface="Calibri"/>
              </a:rPr>
              <a:t>handling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 sz="2000" b="1">
                <a:solidFill>
                  <a:srgbClr val="404040"/>
                </a:solidFill>
                <a:latin typeface="Calibri"/>
                <a:cs typeface="Calibri"/>
              </a:rPr>
              <a:t>Student</a:t>
            </a:r>
            <a:r>
              <a:rPr dirty="0" sz="2000" spc="-5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404040"/>
                </a:solidFill>
                <a:latin typeface="Calibri"/>
                <a:cs typeface="Calibri"/>
              </a:rPr>
              <a:t>2</a:t>
            </a:r>
            <a:r>
              <a:rPr dirty="0" sz="2000" spc="-4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404040"/>
                </a:solidFill>
                <a:latin typeface="Calibri"/>
                <a:cs typeface="Calibri"/>
              </a:rPr>
              <a:t>–</a:t>
            </a:r>
            <a:r>
              <a:rPr dirty="0" sz="2000" spc="-6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404040"/>
                </a:solidFill>
                <a:latin typeface="Calibri"/>
                <a:cs typeface="Calibri"/>
              </a:rPr>
              <a:t>Park</a:t>
            </a:r>
            <a:r>
              <a:rPr dirty="0" sz="2000" spc="-5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404040"/>
                </a:solidFill>
                <a:latin typeface="Calibri"/>
                <a:cs typeface="Calibri"/>
              </a:rPr>
              <a:t>Vehicle</a:t>
            </a:r>
            <a:r>
              <a:rPr dirty="0" sz="2000" spc="-5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404040"/>
                </a:solidFill>
                <a:latin typeface="Calibri"/>
                <a:cs typeface="Calibri"/>
              </a:rPr>
              <a:t>Module</a:t>
            </a:r>
            <a:endParaRPr sz="2000">
              <a:latin typeface="Calibri"/>
              <a:cs typeface="Calibri"/>
            </a:endParaRPr>
          </a:p>
          <a:p>
            <a:pPr marL="194945" indent="-182245">
              <a:lnSpc>
                <a:spcPct val="100000"/>
              </a:lnSpc>
              <a:spcBef>
                <a:spcPts val="1150"/>
              </a:spcBef>
              <a:buChar char="•"/>
              <a:tabLst>
                <a:tab pos="194945" algn="l"/>
              </a:tabLst>
            </a:pPr>
            <a:r>
              <a:rPr dirty="0" sz="2000" spc="-50">
                <a:solidFill>
                  <a:srgbClr val="404040"/>
                </a:solidFill>
                <a:latin typeface="Calibri"/>
                <a:cs typeface="Calibri"/>
              </a:rPr>
              <a:t>Take</a:t>
            </a:r>
            <a:r>
              <a:rPr dirty="0" sz="20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vehicle</a:t>
            </a:r>
            <a:r>
              <a:rPr dirty="0" sz="20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details</a:t>
            </a:r>
            <a:r>
              <a:rPr dirty="0" sz="20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from</a:t>
            </a:r>
            <a:r>
              <a:rPr dirty="0" sz="20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20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user.</a:t>
            </a:r>
            <a:endParaRPr sz="2000">
              <a:latin typeface="Calibri"/>
              <a:cs typeface="Calibri"/>
            </a:endParaRPr>
          </a:p>
          <a:p>
            <a:pPr marL="200660" indent="-182245">
              <a:lnSpc>
                <a:spcPct val="100000"/>
              </a:lnSpc>
              <a:spcBef>
                <a:spcPts val="220"/>
              </a:spcBef>
              <a:buChar char="•"/>
              <a:tabLst>
                <a:tab pos="200660" algn="l"/>
              </a:tabLst>
            </a:pP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Details</a:t>
            </a:r>
            <a:r>
              <a:rPr dirty="0" sz="2000" spc="-6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include</a:t>
            </a:r>
            <a:r>
              <a:rPr dirty="0" sz="20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404040"/>
                </a:solidFill>
                <a:latin typeface="Calibri"/>
                <a:cs typeface="Calibri"/>
              </a:rPr>
              <a:t>vehicle</a:t>
            </a:r>
            <a:r>
              <a:rPr dirty="0" sz="2000" spc="-5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20" b="1">
                <a:solidFill>
                  <a:srgbClr val="404040"/>
                </a:solidFill>
                <a:latin typeface="Calibri"/>
                <a:cs typeface="Calibri"/>
              </a:rPr>
              <a:t>number,</a:t>
            </a:r>
            <a:r>
              <a:rPr dirty="0" sz="2000" spc="-6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404040"/>
                </a:solidFill>
                <a:latin typeface="Calibri"/>
                <a:cs typeface="Calibri"/>
              </a:rPr>
              <a:t>type,</a:t>
            </a:r>
            <a:r>
              <a:rPr dirty="0" sz="2000" spc="-6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dirty="0" sz="2000" spc="-4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404040"/>
                </a:solidFill>
                <a:latin typeface="Calibri"/>
                <a:cs typeface="Calibri"/>
              </a:rPr>
              <a:t>parking</a:t>
            </a:r>
            <a:r>
              <a:rPr dirty="0" sz="2000" spc="-6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404040"/>
                </a:solidFill>
                <a:latin typeface="Calibri"/>
                <a:cs typeface="Calibri"/>
              </a:rPr>
              <a:t>hours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200660" indent="-182245">
              <a:lnSpc>
                <a:spcPct val="100000"/>
              </a:lnSpc>
              <a:spcBef>
                <a:spcPts val="240"/>
              </a:spcBef>
              <a:buChar char="•"/>
              <a:tabLst>
                <a:tab pos="200660" algn="l"/>
              </a:tabLst>
            </a:pP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Save</a:t>
            </a:r>
            <a:r>
              <a:rPr dirty="0" sz="2000" spc="-7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20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entered</a:t>
            </a:r>
            <a:r>
              <a:rPr dirty="0" sz="20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vehicle</a:t>
            </a:r>
            <a:r>
              <a:rPr dirty="0" sz="2000" spc="-7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dirty="0" sz="20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into</a:t>
            </a:r>
            <a:r>
              <a:rPr dirty="0" sz="2000" spc="-6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2000" spc="-6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file.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 sz="2000" b="1">
                <a:solidFill>
                  <a:srgbClr val="404040"/>
                </a:solidFill>
                <a:latin typeface="Calibri"/>
                <a:cs typeface="Calibri"/>
              </a:rPr>
              <a:t>Student</a:t>
            </a:r>
            <a:r>
              <a:rPr dirty="0" sz="2000" spc="-5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404040"/>
                </a:solidFill>
                <a:latin typeface="Calibri"/>
                <a:cs typeface="Calibri"/>
              </a:rPr>
              <a:t>3</a:t>
            </a:r>
            <a:r>
              <a:rPr dirty="0" sz="2000" spc="-4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404040"/>
                </a:solidFill>
                <a:latin typeface="Calibri"/>
                <a:cs typeface="Calibri"/>
              </a:rPr>
              <a:t>–</a:t>
            </a:r>
            <a:r>
              <a:rPr dirty="0" sz="2000" spc="-5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404040"/>
                </a:solidFill>
                <a:latin typeface="Calibri"/>
                <a:cs typeface="Calibri"/>
              </a:rPr>
              <a:t>Display</a:t>
            </a:r>
            <a:r>
              <a:rPr dirty="0" sz="2000" spc="-5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404040"/>
                </a:solidFill>
                <a:latin typeface="Calibri"/>
                <a:cs typeface="Calibri"/>
              </a:rPr>
              <a:t>Vehicles</a:t>
            </a:r>
            <a:r>
              <a:rPr dirty="0" sz="2000" spc="-5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404040"/>
                </a:solidFill>
                <a:latin typeface="Calibri"/>
                <a:cs typeface="Calibri"/>
              </a:rPr>
              <a:t>Module</a:t>
            </a:r>
            <a:endParaRPr sz="2000">
              <a:latin typeface="Calibri"/>
              <a:cs typeface="Calibri"/>
            </a:endParaRPr>
          </a:p>
          <a:p>
            <a:pPr marL="194945" indent="-182245">
              <a:lnSpc>
                <a:spcPct val="100000"/>
              </a:lnSpc>
              <a:spcBef>
                <a:spcPts val="1155"/>
              </a:spcBef>
              <a:buChar char="•"/>
              <a:tabLst>
                <a:tab pos="194945" algn="l"/>
              </a:tabLst>
            </a:pP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Read</a:t>
            </a:r>
            <a:r>
              <a:rPr dirty="0" sz="2000" spc="-6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vehicle</a:t>
            </a:r>
            <a:r>
              <a:rPr dirty="0" sz="2000" spc="-7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dirty="0" sz="2000" spc="-6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from</a:t>
            </a:r>
            <a:r>
              <a:rPr dirty="0" sz="2000" spc="-7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20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404040"/>
                </a:solidFill>
                <a:latin typeface="Calibri"/>
                <a:cs typeface="Calibri"/>
              </a:rPr>
              <a:t>file.</a:t>
            </a:r>
            <a:endParaRPr sz="2000">
              <a:latin typeface="Calibri"/>
              <a:cs typeface="Calibri"/>
            </a:endParaRPr>
          </a:p>
          <a:p>
            <a:pPr marL="200660" indent="-182245">
              <a:lnSpc>
                <a:spcPct val="100000"/>
              </a:lnSpc>
              <a:spcBef>
                <a:spcPts val="240"/>
              </a:spcBef>
              <a:buChar char="•"/>
              <a:tabLst>
                <a:tab pos="200660" algn="l"/>
              </a:tabLst>
            </a:pP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Show</a:t>
            </a:r>
            <a:r>
              <a:rPr dirty="0" sz="20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all</a:t>
            </a:r>
            <a:r>
              <a:rPr dirty="0" sz="20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parked</a:t>
            </a:r>
            <a:r>
              <a:rPr dirty="0" sz="20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vehicles</a:t>
            </a:r>
            <a:r>
              <a:rPr dirty="0" sz="20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dirty="0" sz="20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20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screen.</a:t>
            </a:r>
            <a:endParaRPr sz="2000">
              <a:latin typeface="Calibri"/>
              <a:cs typeface="Calibri"/>
            </a:endParaRPr>
          </a:p>
          <a:p>
            <a:pPr marL="200660" indent="-182245">
              <a:lnSpc>
                <a:spcPct val="100000"/>
              </a:lnSpc>
              <a:spcBef>
                <a:spcPts val="240"/>
              </a:spcBef>
              <a:buChar char="•"/>
              <a:tabLst>
                <a:tab pos="200660" algn="l"/>
              </a:tabLst>
            </a:pP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Display</a:t>
            </a:r>
            <a:r>
              <a:rPr dirty="0" sz="20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vehicle</a:t>
            </a:r>
            <a:r>
              <a:rPr dirty="0" sz="2000" spc="-7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25">
                <a:solidFill>
                  <a:srgbClr val="404040"/>
                </a:solidFill>
                <a:latin typeface="Calibri"/>
                <a:cs typeface="Calibri"/>
              </a:rPr>
              <a:t>number,</a:t>
            </a:r>
            <a:r>
              <a:rPr dirty="0" sz="2000" spc="-6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type,</a:t>
            </a:r>
            <a:r>
              <a:rPr dirty="0" sz="2000" spc="-6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dirty="0" sz="20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hours.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dirty="0" sz="2000" b="1">
                <a:solidFill>
                  <a:srgbClr val="404040"/>
                </a:solidFill>
                <a:latin typeface="Calibri"/>
                <a:cs typeface="Calibri"/>
              </a:rPr>
              <a:t>Student</a:t>
            </a:r>
            <a:r>
              <a:rPr dirty="0" sz="2000" spc="-4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404040"/>
                </a:solidFill>
                <a:latin typeface="Calibri"/>
                <a:cs typeface="Calibri"/>
              </a:rPr>
              <a:t>4</a:t>
            </a:r>
            <a:r>
              <a:rPr dirty="0" sz="2000" spc="-3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404040"/>
                </a:solidFill>
                <a:latin typeface="Calibri"/>
                <a:cs typeface="Calibri"/>
              </a:rPr>
              <a:t>–</a:t>
            </a:r>
            <a:r>
              <a:rPr dirty="0" sz="2000" spc="-4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404040"/>
                </a:solidFill>
                <a:latin typeface="Calibri"/>
                <a:cs typeface="Calibri"/>
              </a:rPr>
              <a:t>Parking</a:t>
            </a:r>
            <a:r>
              <a:rPr dirty="0" sz="2000" spc="-6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404040"/>
                </a:solidFill>
                <a:latin typeface="Calibri"/>
                <a:cs typeface="Calibri"/>
              </a:rPr>
              <a:t>Charge</a:t>
            </a:r>
            <a:r>
              <a:rPr dirty="0" sz="2000" spc="-4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dirty="0" sz="2000" spc="-4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404040"/>
                </a:solidFill>
                <a:latin typeface="Calibri"/>
                <a:cs typeface="Calibri"/>
              </a:rPr>
              <a:t>Menu</a:t>
            </a:r>
            <a:r>
              <a:rPr dirty="0" sz="2000" spc="-3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404040"/>
                </a:solidFill>
                <a:latin typeface="Calibri"/>
                <a:cs typeface="Calibri"/>
              </a:rPr>
              <a:t>System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95350" y="975486"/>
            <a:ext cx="7474584" cy="0"/>
          </a:xfrm>
          <a:custGeom>
            <a:avLst/>
            <a:gdLst/>
            <a:ahLst/>
            <a:cxnLst/>
            <a:rect l="l" t="t" r="r" b="b"/>
            <a:pathLst>
              <a:path w="7474584" h="0">
                <a:moveTo>
                  <a:pt x="0" y="0"/>
                </a:moveTo>
                <a:lnTo>
                  <a:pt x="7474584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3331" y="-41605"/>
            <a:ext cx="6977380" cy="6090920"/>
          </a:xfrm>
          <a:prstGeom prst="rect">
            <a:avLst/>
          </a:prstGeom>
        </p:spPr>
        <p:txBody>
          <a:bodyPr wrap="square" lIns="0" tIns="40640" rIns="0" bIns="0" rtlCol="0" vert="horz">
            <a:spAutoFit/>
          </a:bodyPr>
          <a:lstStyle/>
          <a:p>
            <a:pPr marL="843915" indent="-182245">
              <a:lnSpc>
                <a:spcPct val="100000"/>
              </a:lnSpc>
              <a:spcBef>
                <a:spcPts val="320"/>
              </a:spcBef>
              <a:buChar char="•"/>
              <a:tabLst>
                <a:tab pos="843915" algn="l"/>
              </a:tabLst>
            </a:pP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Calculate</a:t>
            </a:r>
            <a:r>
              <a:rPr dirty="0" sz="20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parking</a:t>
            </a:r>
            <a:r>
              <a:rPr dirty="0" sz="20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charges</a:t>
            </a:r>
            <a:r>
              <a:rPr dirty="0" sz="2000" spc="-6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based</a:t>
            </a:r>
            <a:r>
              <a:rPr dirty="0" sz="20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dirty="0" sz="2000" spc="-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404040"/>
                </a:solidFill>
                <a:latin typeface="Calibri"/>
                <a:cs typeface="Calibri"/>
              </a:rPr>
              <a:t>vehicle</a:t>
            </a:r>
            <a:r>
              <a:rPr dirty="0" sz="2000" spc="-4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404040"/>
                </a:solidFill>
                <a:latin typeface="Calibri"/>
                <a:cs typeface="Calibri"/>
              </a:rPr>
              <a:t>type</a:t>
            </a:r>
            <a:r>
              <a:rPr dirty="0" sz="2000" spc="-5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dirty="0" sz="2000" spc="-4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404040"/>
                </a:solidFill>
                <a:latin typeface="Calibri"/>
                <a:cs typeface="Calibri"/>
              </a:rPr>
              <a:t>hours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850265" indent="-182245">
              <a:lnSpc>
                <a:spcPct val="100000"/>
              </a:lnSpc>
              <a:spcBef>
                <a:spcPts val="215"/>
              </a:spcBef>
              <a:buChar char="•"/>
              <a:tabLst>
                <a:tab pos="850265" algn="l"/>
              </a:tabLst>
            </a:pP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Connect</a:t>
            </a:r>
            <a:r>
              <a:rPr dirty="0" sz="20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all</a:t>
            </a:r>
            <a:r>
              <a:rPr dirty="0" sz="20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modules</a:t>
            </a:r>
            <a:r>
              <a:rPr dirty="0" sz="20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dirty="0" sz="20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run</a:t>
            </a:r>
            <a:r>
              <a:rPr dirty="0" sz="20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20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program.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 sz="2000" spc="-10" b="1">
                <a:solidFill>
                  <a:srgbClr val="404040"/>
                </a:solidFill>
                <a:latin typeface="Calibri"/>
                <a:cs typeface="Calibri"/>
              </a:rPr>
              <a:t>Algorithm</a:t>
            </a:r>
            <a:endParaRPr sz="2000">
              <a:latin typeface="Calibri"/>
              <a:cs typeface="Calibri"/>
            </a:endParaRPr>
          </a:p>
          <a:p>
            <a:pPr marL="194945" indent="-182245">
              <a:lnSpc>
                <a:spcPct val="100000"/>
              </a:lnSpc>
              <a:spcBef>
                <a:spcPts val="1155"/>
              </a:spcBef>
              <a:buChar char="•"/>
              <a:tabLst>
                <a:tab pos="194945" algn="l"/>
              </a:tabLst>
            </a:pP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Step</a:t>
            </a:r>
            <a:r>
              <a:rPr dirty="0" sz="20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1:</a:t>
            </a:r>
            <a:r>
              <a:rPr dirty="0" sz="20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Start</a:t>
            </a:r>
            <a:r>
              <a:rPr dirty="0" sz="20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2000" spc="-6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program</a:t>
            </a:r>
            <a:endParaRPr sz="2000">
              <a:latin typeface="Calibri"/>
              <a:cs typeface="Calibri"/>
            </a:endParaRPr>
          </a:p>
          <a:p>
            <a:pPr marL="194945" indent="-182245">
              <a:lnSpc>
                <a:spcPct val="100000"/>
              </a:lnSpc>
              <a:spcBef>
                <a:spcPts val="1150"/>
              </a:spcBef>
              <a:buChar char="•"/>
              <a:tabLst>
                <a:tab pos="194945" algn="l"/>
              </a:tabLst>
            </a:pP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Step</a:t>
            </a:r>
            <a:r>
              <a:rPr dirty="0" sz="20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2:</a:t>
            </a:r>
            <a:r>
              <a:rPr dirty="0" sz="2000" spc="-6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Display</a:t>
            </a:r>
            <a:r>
              <a:rPr dirty="0" sz="20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menu</a:t>
            </a:r>
            <a:r>
              <a:rPr dirty="0" sz="20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options</a:t>
            </a:r>
            <a:endParaRPr sz="2000">
              <a:latin typeface="Calibri"/>
              <a:cs typeface="Calibri"/>
            </a:endParaRPr>
          </a:p>
          <a:p>
            <a:pPr marL="194945" indent="-182245">
              <a:lnSpc>
                <a:spcPct val="100000"/>
              </a:lnSpc>
              <a:spcBef>
                <a:spcPts val="1155"/>
              </a:spcBef>
              <a:buChar char="•"/>
              <a:tabLst>
                <a:tab pos="194945" algn="l"/>
              </a:tabLst>
            </a:pP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Step</a:t>
            </a:r>
            <a:r>
              <a:rPr dirty="0" sz="20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3:</a:t>
            </a:r>
            <a:r>
              <a:rPr dirty="0" sz="2000" spc="-6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Read</a:t>
            </a:r>
            <a:r>
              <a:rPr dirty="0" sz="20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user</a:t>
            </a:r>
            <a:r>
              <a:rPr dirty="0" sz="20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choice</a:t>
            </a:r>
            <a:endParaRPr sz="2000">
              <a:latin typeface="Calibri"/>
              <a:cs typeface="Calibri"/>
            </a:endParaRPr>
          </a:p>
          <a:p>
            <a:pPr marL="194945" indent="-182245">
              <a:lnSpc>
                <a:spcPct val="100000"/>
              </a:lnSpc>
              <a:spcBef>
                <a:spcPts val="1155"/>
              </a:spcBef>
              <a:buChar char="•"/>
              <a:tabLst>
                <a:tab pos="194945" algn="l"/>
              </a:tabLst>
            </a:pP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Step</a:t>
            </a:r>
            <a:r>
              <a:rPr dirty="0" sz="20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4:</a:t>
            </a:r>
            <a:r>
              <a:rPr dirty="0" sz="20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If</a:t>
            </a:r>
            <a:r>
              <a:rPr dirty="0" sz="2000" spc="-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choice</a:t>
            </a:r>
            <a:r>
              <a:rPr dirty="0" sz="20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=</a:t>
            </a:r>
            <a:r>
              <a:rPr dirty="0" sz="20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50">
                <a:solidFill>
                  <a:srgbClr val="404040"/>
                </a:solidFill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  <a:p>
            <a:pPr lvl="1" marL="661035" indent="-184785">
              <a:lnSpc>
                <a:spcPct val="100000"/>
              </a:lnSpc>
              <a:spcBef>
                <a:spcPts val="240"/>
              </a:spcBef>
              <a:buChar char="•"/>
              <a:tabLst>
                <a:tab pos="661035" algn="l"/>
              </a:tabLst>
            </a:pP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Call</a:t>
            </a:r>
            <a:r>
              <a:rPr dirty="0" sz="20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404040"/>
                </a:solidFill>
                <a:latin typeface="Calibri"/>
                <a:cs typeface="Calibri"/>
              </a:rPr>
              <a:t>parkVehicle()</a:t>
            </a:r>
            <a:r>
              <a:rPr dirty="0" sz="2000" spc="-3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function</a:t>
            </a:r>
            <a:endParaRPr sz="2000">
              <a:latin typeface="Calibri"/>
              <a:cs typeface="Calibri"/>
            </a:endParaRPr>
          </a:p>
          <a:p>
            <a:pPr marL="194945" indent="-182245">
              <a:lnSpc>
                <a:spcPct val="100000"/>
              </a:lnSpc>
              <a:spcBef>
                <a:spcPts val="1155"/>
              </a:spcBef>
              <a:buChar char="•"/>
              <a:tabLst>
                <a:tab pos="194945" algn="l"/>
              </a:tabLst>
            </a:pP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Step</a:t>
            </a:r>
            <a:r>
              <a:rPr dirty="0" sz="20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5:</a:t>
            </a:r>
            <a:r>
              <a:rPr dirty="0" sz="20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If</a:t>
            </a:r>
            <a:r>
              <a:rPr dirty="0" sz="20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choice</a:t>
            </a:r>
            <a:r>
              <a:rPr dirty="0" sz="20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=</a:t>
            </a:r>
            <a:r>
              <a:rPr dirty="0" sz="20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50">
                <a:solidFill>
                  <a:srgbClr val="404040"/>
                </a:solidFill>
                <a:latin typeface="Calibri"/>
                <a:cs typeface="Calibri"/>
              </a:rPr>
              <a:t>2</a:t>
            </a:r>
            <a:endParaRPr sz="2000">
              <a:latin typeface="Calibri"/>
              <a:cs typeface="Calibri"/>
            </a:endParaRPr>
          </a:p>
          <a:p>
            <a:pPr lvl="1" marL="661035" indent="-184785">
              <a:lnSpc>
                <a:spcPct val="100000"/>
              </a:lnSpc>
              <a:spcBef>
                <a:spcPts val="215"/>
              </a:spcBef>
              <a:buChar char="•"/>
              <a:tabLst>
                <a:tab pos="661035" algn="l"/>
              </a:tabLst>
            </a:pP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Call</a:t>
            </a:r>
            <a:r>
              <a:rPr dirty="0" sz="2000" spc="-6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404040"/>
                </a:solidFill>
                <a:latin typeface="Calibri"/>
                <a:cs typeface="Calibri"/>
              </a:rPr>
              <a:t>displayVehicles()</a:t>
            </a:r>
            <a:r>
              <a:rPr dirty="0" sz="2000" spc="-4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function</a:t>
            </a:r>
            <a:endParaRPr sz="2000">
              <a:latin typeface="Calibri"/>
              <a:cs typeface="Calibri"/>
            </a:endParaRPr>
          </a:p>
          <a:p>
            <a:pPr marL="194945" indent="-182245">
              <a:lnSpc>
                <a:spcPct val="100000"/>
              </a:lnSpc>
              <a:spcBef>
                <a:spcPts val="1155"/>
              </a:spcBef>
              <a:buChar char="•"/>
              <a:tabLst>
                <a:tab pos="194945" algn="l"/>
              </a:tabLst>
            </a:pP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Step</a:t>
            </a:r>
            <a:r>
              <a:rPr dirty="0" sz="20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6:</a:t>
            </a:r>
            <a:r>
              <a:rPr dirty="0" sz="20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If</a:t>
            </a:r>
            <a:r>
              <a:rPr dirty="0" sz="20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choice</a:t>
            </a:r>
            <a:r>
              <a:rPr dirty="0" sz="20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=</a:t>
            </a:r>
            <a:r>
              <a:rPr dirty="0" sz="20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50">
                <a:solidFill>
                  <a:srgbClr val="404040"/>
                </a:solidFill>
                <a:latin typeface="Calibri"/>
                <a:cs typeface="Calibri"/>
              </a:rPr>
              <a:t>3</a:t>
            </a:r>
            <a:endParaRPr sz="2000">
              <a:latin typeface="Calibri"/>
              <a:cs typeface="Calibri"/>
            </a:endParaRPr>
          </a:p>
          <a:p>
            <a:pPr lvl="1" marL="661035" indent="-184785">
              <a:lnSpc>
                <a:spcPct val="100000"/>
              </a:lnSpc>
              <a:spcBef>
                <a:spcPts val="240"/>
              </a:spcBef>
              <a:buChar char="•"/>
              <a:tabLst>
                <a:tab pos="661035" algn="l"/>
              </a:tabLst>
            </a:pP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Call</a:t>
            </a:r>
            <a:r>
              <a:rPr dirty="0" sz="20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404040"/>
                </a:solidFill>
                <a:latin typeface="Calibri"/>
                <a:cs typeface="Calibri"/>
              </a:rPr>
              <a:t>calculateCharge()</a:t>
            </a:r>
            <a:r>
              <a:rPr dirty="0" sz="2000" spc="-20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function</a:t>
            </a:r>
            <a:endParaRPr sz="2000">
              <a:latin typeface="Calibri"/>
              <a:cs typeface="Calibri"/>
            </a:endParaRPr>
          </a:p>
          <a:p>
            <a:pPr marL="194945" indent="-182245">
              <a:lnSpc>
                <a:spcPct val="100000"/>
              </a:lnSpc>
              <a:spcBef>
                <a:spcPts val="1155"/>
              </a:spcBef>
              <a:buChar char="•"/>
              <a:tabLst>
                <a:tab pos="194945" algn="l"/>
              </a:tabLst>
            </a:pP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Step</a:t>
            </a:r>
            <a:r>
              <a:rPr dirty="0" sz="20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7:</a:t>
            </a:r>
            <a:r>
              <a:rPr dirty="0" sz="20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If</a:t>
            </a:r>
            <a:r>
              <a:rPr dirty="0" sz="20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choice</a:t>
            </a:r>
            <a:r>
              <a:rPr dirty="0" sz="20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=</a:t>
            </a:r>
            <a:r>
              <a:rPr dirty="0" sz="20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50">
                <a:solidFill>
                  <a:srgbClr val="404040"/>
                </a:solidFill>
                <a:latin typeface="Calibri"/>
                <a:cs typeface="Calibri"/>
              </a:rPr>
              <a:t>4</a:t>
            </a:r>
            <a:endParaRPr sz="2000">
              <a:latin typeface="Calibri"/>
              <a:cs typeface="Calibri"/>
            </a:endParaRPr>
          </a:p>
          <a:p>
            <a:pPr lvl="1" marL="658495" indent="-182245">
              <a:lnSpc>
                <a:spcPct val="100000"/>
              </a:lnSpc>
              <a:spcBef>
                <a:spcPts val="240"/>
              </a:spcBef>
              <a:buChar char="•"/>
              <a:tabLst>
                <a:tab pos="658495" algn="l"/>
              </a:tabLst>
            </a:pP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Exit</a:t>
            </a:r>
            <a:r>
              <a:rPr dirty="0" sz="20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dirty="0" sz="20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program</a:t>
            </a:r>
            <a:endParaRPr sz="2000">
              <a:latin typeface="Calibri"/>
              <a:cs typeface="Calibri"/>
            </a:endParaRPr>
          </a:p>
          <a:p>
            <a:pPr marL="194945" indent="-182245">
              <a:lnSpc>
                <a:spcPct val="100000"/>
              </a:lnSpc>
              <a:spcBef>
                <a:spcPts val="1155"/>
              </a:spcBef>
              <a:buChar char="•"/>
              <a:tabLst>
                <a:tab pos="194945" algn="l"/>
              </a:tabLst>
            </a:pP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Step</a:t>
            </a:r>
            <a:r>
              <a:rPr dirty="0" sz="20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8:</a:t>
            </a:r>
            <a:r>
              <a:rPr dirty="0" sz="20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25">
                <a:solidFill>
                  <a:srgbClr val="404040"/>
                </a:solidFill>
                <a:latin typeface="Calibri"/>
                <a:cs typeface="Calibri"/>
              </a:rPr>
              <a:t>End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179" y="460248"/>
            <a:ext cx="8893810" cy="50736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7987" y="-169621"/>
            <a:ext cx="1986914" cy="6478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51100"/>
              </a:lnSpc>
              <a:spcBef>
                <a:spcPts val="100"/>
              </a:spcBef>
            </a:pP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#include</a:t>
            </a:r>
            <a:r>
              <a:rPr dirty="0" sz="2000" spc="-9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&lt;stdio.h&gt;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#include</a:t>
            </a:r>
            <a:r>
              <a:rPr dirty="0" sz="2000" spc="-9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&lt;stdlib.h&gt;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#include</a:t>
            </a:r>
            <a:r>
              <a:rPr dirty="0" sz="2000" spc="-9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&lt;string.h&gt;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405"/>
              </a:spcBef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struct</a:t>
            </a:r>
            <a:r>
              <a:rPr dirty="0" sz="20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Vehicle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2000" spc="-50">
                <a:solidFill>
                  <a:srgbClr val="404040"/>
                </a:solidFill>
                <a:latin typeface="Calibri"/>
                <a:cs typeface="Calibri"/>
              </a:rPr>
              <a:t>{</a:t>
            </a:r>
            <a:endParaRPr sz="2000">
              <a:latin typeface="Calibri"/>
              <a:cs typeface="Calibri"/>
            </a:endParaRPr>
          </a:p>
          <a:p>
            <a:pPr marL="243840" marR="290830">
              <a:lnSpc>
                <a:spcPct val="151000"/>
              </a:lnSpc>
            </a:pP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int</a:t>
            </a:r>
            <a:r>
              <a:rPr dirty="0" sz="20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number;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char</a:t>
            </a:r>
            <a:r>
              <a:rPr dirty="0" sz="20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type[10];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int</a:t>
            </a:r>
            <a:r>
              <a:rPr dirty="0" sz="20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hours;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dirty="0" sz="2000" spc="-25">
                <a:solidFill>
                  <a:srgbClr val="404040"/>
                </a:solidFill>
                <a:latin typeface="Calibri"/>
                <a:cs typeface="Calibri"/>
              </a:rPr>
              <a:t>};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430"/>
              </a:spcBef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void</a:t>
            </a:r>
            <a:r>
              <a:rPr dirty="0" sz="2000" spc="-7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parkVehicle()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2000" spc="-50">
                <a:solidFill>
                  <a:srgbClr val="404040"/>
                </a:solidFill>
                <a:latin typeface="Calibri"/>
                <a:cs typeface="Calibri"/>
              </a:rPr>
              <a:t>{</a:t>
            </a:r>
            <a:endParaRPr sz="2000">
              <a:latin typeface="Calibri"/>
              <a:cs typeface="Calibri"/>
            </a:endParaRPr>
          </a:p>
          <a:p>
            <a:pPr marL="243840">
              <a:lnSpc>
                <a:spcPct val="100000"/>
              </a:lnSpc>
              <a:spcBef>
                <a:spcPts val="1230"/>
              </a:spcBef>
            </a:pP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struct</a:t>
            </a:r>
            <a:r>
              <a:rPr dirty="0" sz="2000" spc="-8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404040"/>
                </a:solidFill>
                <a:latin typeface="Calibri"/>
                <a:cs typeface="Calibri"/>
              </a:rPr>
              <a:t>Vehicle</a:t>
            </a:r>
            <a:r>
              <a:rPr dirty="0" sz="2000" spc="-9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25">
                <a:solidFill>
                  <a:srgbClr val="404040"/>
                </a:solidFill>
                <a:latin typeface="Calibri"/>
                <a:cs typeface="Calibri"/>
              </a:rPr>
              <a:t>v;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9636" y="-12700"/>
            <a:ext cx="3843020" cy="32956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000">
                <a:solidFill>
                  <a:srgbClr val="404040"/>
                </a:solidFill>
              </a:rPr>
              <a:t>FILE</a:t>
            </a:r>
            <a:r>
              <a:rPr dirty="0" sz="2000" spc="-25">
                <a:solidFill>
                  <a:srgbClr val="404040"/>
                </a:solidFill>
              </a:rPr>
              <a:t> </a:t>
            </a:r>
            <a:r>
              <a:rPr dirty="0" sz="2000">
                <a:solidFill>
                  <a:srgbClr val="404040"/>
                </a:solidFill>
              </a:rPr>
              <a:t>*fp</a:t>
            </a:r>
            <a:r>
              <a:rPr dirty="0" sz="2000" spc="-25">
                <a:solidFill>
                  <a:srgbClr val="404040"/>
                </a:solidFill>
              </a:rPr>
              <a:t> </a:t>
            </a:r>
            <a:r>
              <a:rPr dirty="0" sz="2000">
                <a:solidFill>
                  <a:srgbClr val="404040"/>
                </a:solidFill>
              </a:rPr>
              <a:t>=</a:t>
            </a:r>
            <a:r>
              <a:rPr dirty="0" sz="2000" spc="-35">
                <a:solidFill>
                  <a:srgbClr val="404040"/>
                </a:solidFill>
              </a:rPr>
              <a:t> </a:t>
            </a:r>
            <a:r>
              <a:rPr dirty="0" sz="2000" spc="-10">
                <a:solidFill>
                  <a:srgbClr val="404040"/>
                </a:solidFill>
              </a:rPr>
              <a:t>fopen("parking.dat",</a:t>
            </a:r>
            <a:r>
              <a:rPr dirty="0" sz="2000" spc="-25">
                <a:solidFill>
                  <a:srgbClr val="404040"/>
                </a:solidFill>
              </a:rPr>
              <a:t> </a:t>
            </a:r>
            <a:r>
              <a:rPr dirty="0" sz="2000" spc="-10">
                <a:solidFill>
                  <a:srgbClr val="404040"/>
                </a:solidFill>
              </a:rPr>
              <a:t>"ab");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389636" y="751510"/>
            <a:ext cx="4720590" cy="5097145"/>
          </a:xfrm>
          <a:prstGeom prst="rect">
            <a:avLst/>
          </a:prstGeom>
        </p:spPr>
        <p:txBody>
          <a:bodyPr wrap="square" lIns="0" tIns="1682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if</a:t>
            </a:r>
            <a:r>
              <a:rPr dirty="0" sz="20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(fp</a:t>
            </a:r>
            <a:r>
              <a:rPr dirty="0" sz="20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==</a:t>
            </a:r>
            <a:r>
              <a:rPr dirty="0" sz="20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404040"/>
                </a:solidFill>
                <a:latin typeface="Calibri"/>
                <a:cs typeface="Calibri"/>
              </a:rPr>
              <a:t>NULL)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2000" spc="-50">
                <a:solidFill>
                  <a:srgbClr val="404040"/>
                </a:solidFill>
                <a:latin typeface="Calibri"/>
                <a:cs typeface="Calibri"/>
              </a:rPr>
              <a:t>{</a:t>
            </a:r>
            <a:endParaRPr sz="2000">
              <a:latin typeface="Calibri"/>
              <a:cs typeface="Calibri"/>
            </a:endParaRPr>
          </a:p>
          <a:p>
            <a:pPr marL="244475" marR="2310765" indent="-3175">
              <a:lnSpc>
                <a:spcPts val="3650"/>
              </a:lnSpc>
              <a:spcBef>
                <a:spcPts val="305"/>
              </a:spcBef>
            </a:pPr>
            <a:r>
              <a:rPr dirty="0" sz="2000" spc="-20">
                <a:solidFill>
                  <a:srgbClr val="404040"/>
                </a:solidFill>
                <a:latin typeface="Calibri"/>
                <a:cs typeface="Calibri"/>
              </a:rPr>
              <a:t>printf("File</a:t>
            </a:r>
            <a:r>
              <a:rPr dirty="0" sz="2000" spc="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error\n"); return;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2000" spc="-50">
                <a:solidFill>
                  <a:srgbClr val="404040"/>
                </a:solidFill>
                <a:latin typeface="Calibri"/>
                <a:cs typeface="Calibri"/>
              </a:rPr>
              <a:t>}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80"/>
              </a:spcBef>
            </a:pPr>
            <a:endParaRPr sz="2000">
              <a:latin typeface="Calibri"/>
              <a:cs typeface="Calibri"/>
            </a:endParaRPr>
          </a:p>
          <a:p>
            <a:pPr marL="12700" marR="1382395">
              <a:lnSpc>
                <a:spcPct val="151100"/>
              </a:lnSpc>
            </a:pPr>
            <a:r>
              <a:rPr dirty="0" sz="2000" spc="-20">
                <a:solidFill>
                  <a:srgbClr val="404040"/>
                </a:solidFill>
                <a:latin typeface="Calibri"/>
                <a:cs typeface="Calibri"/>
              </a:rPr>
              <a:t>printf("Enter</a:t>
            </a:r>
            <a:r>
              <a:rPr dirty="0" sz="20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vehicle</a:t>
            </a:r>
            <a:r>
              <a:rPr dirty="0" sz="2000" spc="-6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number:</a:t>
            </a:r>
            <a:r>
              <a:rPr dirty="0" sz="20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25">
                <a:solidFill>
                  <a:srgbClr val="404040"/>
                </a:solidFill>
                <a:latin typeface="Calibri"/>
                <a:cs typeface="Calibri"/>
              </a:rPr>
              <a:t>");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scanf("%d",</a:t>
            </a:r>
            <a:r>
              <a:rPr dirty="0" sz="20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&amp;v.number);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05"/>
              </a:spcBef>
            </a:pPr>
            <a:endParaRPr sz="2000">
              <a:latin typeface="Calibri"/>
              <a:cs typeface="Calibri"/>
            </a:endParaRPr>
          </a:p>
          <a:p>
            <a:pPr marL="12700" marR="5080">
              <a:lnSpc>
                <a:spcPct val="151100"/>
              </a:lnSpc>
            </a:pPr>
            <a:r>
              <a:rPr dirty="0" sz="2000" spc="-20">
                <a:solidFill>
                  <a:srgbClr val="404040"/>
                </a:solidFill>
                <a:latin typeface="Calibri"/>
                <a:cs typeface="Calibri"/>
              </a:rPr>
              <a:t>printf("Enter</a:t>
            </a:r>
            <a:r>
              <a:rPr dirty="0" sz="20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vehicle</a:t>
            </a:r>
            <a:r>
              <a:rPr dirty="0" sz="20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type</a:t>
            </a:r>
            <a:r>
              <a:rPr dirty="0" sz="20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404040"/>
                </a:solidFill>
                <a:latin typeface="Calibri"/>
                <a:cs typeface="Calibri"/>
              </a:rPr>
              <a:t>(Bike/Car/Truck):</a:t>
            </a:r>
            <a:r>
              <a:rPr dirty="0" sz="2000" spc="-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25">
                <a:solidFill>
                  <a:srgbClr val="404040"/>
                </a:solidFill>
                <a:latin typeface="Calibri"/>
                <a:cs typeface="Calibri"/>
              </a:rPr>
              <a:t>");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scanf("%s",</a:t>
            </a:r>
            <a:r>
              <a:rPr dirty="0" sz="20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v.type);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7987" y="-169621"/>
            <a:ext cx="4304665" cy="37122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3840" marR="918844">
              <a:lnSpc>
                <a:spcPct val="151100"/>
              </a:lnSpc>
              <a:spcBef>
                <a:spcPts val="100"/>
              </a:spcBef>
            </a:pPr>
            <a:r>
              <a:rPr dirty="0" sz="2000" spc="-20">
                <a:solidFill>
                  <a:srgbClr val="404040"/>
                </a:solidFill>
                <a:latin typeface="Calibri"/>
                <a:cs typeface="Calibri"/>
              </a:rPr>
              <a:t>printf("Enter</a:t>
            </a:r>
            <a:r>
              <a:rPr dirty="0" sz="20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parking</a:t>
            </a:r>
            <a:r>
              <a:rPr dirty="0" sz="20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hours:</a:t>
            </a:r>
            <a:r>
              <a:rPr dirty="0" sz="20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25">
                <a:solidFill>
                  <a:srgbClr val="404040"/>
                </a:solidFill>
                <a:latin typeface="Calibri"/>
                <a:cs typeface="Calibri"/>
              </a:rPr>
              <a:t>");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scanf("%d",</a:t>
            </a:r>
            <a:r>
              <a:rPr dirty="0" sz="20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&amp;v.hours);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2000">
              <a:latin typeface="Calibri"/>
              <a:cs typeface="Calibri"/>
            </a:endParaRPr>
          </a:p>
          <a:p>
            <a:pPr marL="243840" marR="1391920">
              <a:lnSpc>
                <a:spcPct val="151000"/>
              </a:lnSpc>
            </a:pPr>
            <a:r>
              <a:rPr dirty="0" sz="2000" spc="-25">
                <a:solidFill>
                  <a:srgbClr val="404040"/>
                </a:solidFill>
                <a:latin typeface="Calibri"/>
                <a:cs typeface="Calibri"/>
              </a:rPr>
              <a:t>fwrite(&amp;v,</a:t>
            </a:r>
            <a:r>
              <a:rPr dirty="0" sz="2000" spc="-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sizeof(v),</a:t>
            </a:r>
            <a:r>
              <a:rPr dirty="0" sz="20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1,</a:t>
            </a:r>
            <a:r>
              <a:rPr dirty="0" sz="20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404040"/>
                </a:solidFill>
                <a:latin typeface="Calibri"/>
                <a:cs typeface="Calibri"/>
              </a:rPr>
              <a:t>fp);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fclose(fp);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435"/>
              </a:spcBef>
            </a:pPr>
            <a:endParaRPr sz="2000">
              <a:latin typeface="Calibri"/>
              <a:cs typeface="Calibri"/>
            </a:endParaRPr>
          </a:p>
          <a:p>
            <a:pPr marL="243840">
              <a:lnSpc>
                <a:spcPct val="100000"/>
              </a:lnSpc>
              <a:spcBef>
                <a:spcPts val="5"/>
              </a:spcBef>
            </a:pPr>
            <a:r>
              <a:rPr dirty="0" sz="2000" spc="-25">
                <a:solidFill>
                  <a:srgbClr val="404040"/>
                </a:solidFill>
                <a:latin typeface="Calibri"/>
                <a:cs typeface="Calibri"/>
              </a:rPr>
              <a:t>printf("Vehicle</a:t>
            </a:r>
            <a:r>
              <a:rPr dirty="0" sz="2000" spc="-6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parked</a:t>
            </a:r>
            <a:r>
              <a:rPr dirty="0" sz="20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successfully.\n");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dirty="0" sz="2000" spc="-50">
                <a:solidFill>
                  <a:srgbClr val="404040"/>
                </a:solidFill>
                <a:latin typeface="Calibri"/>
                <a:cs typeface="Calibri"/>
              </a:rPr>
              <a:t>}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7987" y="5362143"/>
            <a:ext cx="1986914" cy="9467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1100"/>
              </a:lnSpc>
              <a:spcBef>
                <a:spcPts val="100"/>
              </a:spcBef>
            </a:pP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#include</a:t>
            </a:r>
            <a:r>
              <a:rPr dirty="0" sz="2000" spc="-9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&lt;stdlib.h&gt;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#include</a:t>
            </a:r>
            <a:r>
              <a:rPr dirty="0" sz="2000" spc="-9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&lt;string.h&gt;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7987" y="290753"/>
            <a:ext cx="4074795" cy="6017895"/>
          </a:xfrm>
          <a:prstGeom prst="rect">
            <a:avLst/>
          </a:prstGeom>
        </p:spPr>
        <p:txBody>
          <a:bodyPr wrap="square" lIns="0" tIns="1682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struct</a:t>
            </a:r>
            <a:r>
              <a:rPr dirty="0" sz="2000" spc="-114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Vehicle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dirty="0" sz="2000" spc="-50">
                <a:solidFill>
                  <a:srgbClr val="404040"/>
                </a:solidFill>
                <a:latin typeface="Calibri"/>
                <a:cs typeface="Calibri"/>
              </a:rPr>
              <a:t>{</a:t>
            </a:r>
            <a:endParaRPr sz="2000">
              <a:latin typeface="Calibri"/>
              <a:cs typeface="Calibri"/>
            </a:endParaRPr>
          </a:p>
          <a:p>
            <a:pPr marL="243840" marR="2379345">
              <a:lnSpc>
                <a:spcPct val="151000"/>
              </a:lnSpc>
            </a:pP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int</a:t>
            </a:r>
            <a:r>
              <a:rPr dirty="0" sz="20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number;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char</a:t>
            </a:r>
            <a:r>
              <a:rPr dirty="0" sz="20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type[10];</a:t>
            </a:r>
            <a:endParaRPr sz="2000">
              <a:latin typeface="Calibri"/>
              <a:cs typeface="Calibri"/>
            </a:endParaRPr>
          </a:p>
          <a:p>
            <a:pPr marL="243840">
              <a:lnSpc>
                <a:spcPct val="100000"/>
              </a:lnSpc>
              <a:spcBef>
                <a:spcPts val="1250"/>
              </a:spcBef>
            </a:pP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int</a:t>
            </a:r>
            <a:r>
              <a:rPr dirty="0" sz="20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hours;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dirty="0" sz="2000" spc="-25">
                <a:solidFill>
                  <a:srgbClr val="404040"/>
                </a:solidFill>
                <a:latin typeface="Calibri"/>
                <a:cs typeface="Calibri"/>
              </a:rPr>
              <a:t>};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405"/>
              </a:spcBef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void</a:t>
            </a:r>
            <a:r>
              <a:rPr dirty="0" sz="2000" spc="-7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parkVehicle()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dirty="0" sz="2000" spc="-50">
                <a:solidFill>
                  <a:srgbClr val="404040"/>
                </a:solidFill>
                <a:latin typeface="Calibri"/>
                <a:cs typeface="Calibri"/>
              </a:rPr>
              <a:t>{</a:t>
            </a:r>
            <a:endParaRPr sz="2000">
              <a:latin typeface="Calibri"/>
              <a:cs typeface="Calibri"/>
            </a:endParaRPr>
          </a:p>
          <a:p>
            <a:pPr marL="243840">
              <a:lnSpc>
                <a:spcPct val="100000"/>
              </a:lnSpc>
              <a:spcBef>
                <a:spcPts val="1225"/>
              </a:spcBef>
            </a:pP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struct</a:t>
            </a:r>
            <a:r>
              <a:rPr dirty="0" sz="2000" spc="-8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404040"/>
                </a:solidFill>
                <a:latin typeface="Calibri"/>
                <a:cs typeface="Calibri"/>
              </a:rPr>
              <a:t>Vehicle</a:t>
            </a:r>
            <a:r>
              <a:rPr dirty="0" sz="2000" spc="-9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25">
                <a:solidFill>
                  <a:srgbClr val="404040"/>
                </a:solidFill>
                <a:latin typeface="Calibri"/>
                <a:cs typeface="Calibri"/>
              </a:rPr>
              <a:t>v;</a:t>
            </a:r>
            <a:endParaRPr sz="2000">
              <a:latin typeface="Calibri"/>
              <a:cs typeface="Calibri"/>
            </a:endParaRPr>
          </a:p>
          <a:p>
            <a:pPr marL="243840">
              <a:lnSpc>
                <a:spcPct val="100000"/>
              </a:lnSpc>
              <a:spcBef>
                <a:spcPts val="1250"/>
              </a:spcBef>
            </a:pP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FILE</a:t>
            </a:r>
            <a:r>
              <a:rPr dirty="0" sz="20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*fp</a:t>
            </a:r>
            <a:r>
              <a:rPr dirty="0" sz="20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=</a:t>
            </a:r>
            <a:r>
              <a:rPr dirty="0" sz="20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fopen("parking.dat",</a:t>
            </a:r>
            <a:r>
              <a:rPr dirty="0" sz="2000" spc="-2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"ab");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410"/>
              </a:spcBef>
            </a:pPr>
            <a:endParaRPr sz="2000">
              <a:latin typeface="Calibri"/>
              <a:cs typeface="Calibri"/>
            </a:endParaRPr>
          </a:p>
          <a:p>
            <a:pPr marL="243840">
              <a:lnSpc>
                <a:spcPct val="100000"/>
              </a:lnSpc>
            </a:pP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if</a:t>
            </a:r>
            <a:r>
              <a:rPr dirty="0" sz="20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(fp</a:t>
            </a:r>
            <a:r>
              <a:rPr dirty="0" sz="20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==</a:t>
            </a:r>
            <a:r>
              <a:rPr dirty="0" sz="2000" spc="-3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404040"/>
                </a:solidFill>
                <a:latin typeface="Calibri"/>
                <a:cs typeface="Calibri"/>
              </a:rPr>
              <a:t>NULL)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9636" y="-169621"/>
            <a:ext cx="4720590" cy="6017895"/>
          </a:xfrm>
          <a:prstGeom prst="rect">
            <a:avLst/>
          </a:prstGeom>
        </p:spPr>
        <p:txBody>
          <a:bodyPr wrap="square" lIns="0" tIns="1682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dirty="0" sz="2000" spc="-50">
                <a:solidFill>
                  <a:srgbClr val="404040"/>
                </a:solidFill>
                <a:latin typeface="Calibri"/>
                <a:cs typeface="Calibri"/>
              </a:rPr>
              <a:t>{</a:t>
            </a:r>
            <a:endParaRPr sz="2000">
              <a:latin typeface="Calibri"/>
              <a:cs typeface="Calibri"/>
            </a:endParaRPr>
          </a:p>
          <a:p>
            <a:pPr marL="244475" marR="2310765" indent="-3175">
              <a:lnSpc>
                <a:spcPct val="151100"/>
              </a:lnSpc>
            </a:pPr>
            <a:r>
              <a:rPr dirty="0" sz="2000" spc="-20">
                <a:solidFill>
                  <a:srgbClr val="404040"/>
                </a:solidFill>
                <a:latin typeface="Calibri"/>
                <a:cs typeface="Calibri"/>
              </a:rPr>
              <a:t>printf("File</a:t>
            </a:r>
            <a:r>
              <a:rPr dirty="0" sz="2000" spc="1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error\n"); return;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2000" spc="-50">
                <a:solidFill>
                  <a:srgbClr val="404040"/>
                </a:solidFill>
                <a:latin typeface="Calibri"/>
                <a:cs typeface="Calibri"/>
              </a:rPr>
              <a:t>}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10"/>
              </a:spcBef>
            </a:pPr>
            <a:endParaRPr sz="2000">
              <a:latin typeface="Calibri"/>
              <a:cs typeface="Calibri"/>
            </a:endParaRPr>
          </a:p>
          <a:p>
            <a:pPr marL="12700" marR="1382395">
              <a:lnSpc>
                <a:spcPct val="151100"/>
              </a:lnSpc>
            </a:pPr>
            <a:r>
              <a:rPr dirty="0" sz="2000" spc="-20">
                <a:solidFill>
                  <a:srgbClr val="404040"/>
                </a:solidFill>
                <a:latin typeface="Calibri"/>
                <a:cs typeface="Calibri"/>
              </a:rPr>
              <a:t>printf("Enter</a:t>
            </a:r>
            <a:r>
              <a:rPr dirty="0" sz="20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vehicle</a:t>
            </a:r>
            <a:r>
              <a:rPr dirty="0" sz="2000" spc="-6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number:</a:t>
            </a:r>
            <a:r>
              <a:rPr dirty="0" sz="20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25">
                <a:solidFill>
                  <a:srgbClr val="404040"/>
                </a:solidFill>
                <a:latin typeface="Calibri"/>
                <a:cs typeface="Calibri"/>
              </a:rPr>
              <a:t>");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scanf("%d",</a:t>
            </a:r>
            <a:r>
              <a:rPr dirty="0" sz="20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&amp;v.number);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80"/>
              </a:spcBef>
            </a:pPr>
            <a:endParaRPr sz="2000">
              <a:latin typeface="Calibri"/>
              <a:cs typeface="Calibri"/>
            </a:endParaRPr>
          </a:p>
          <a:p>
            <a:pPr marL="12700" marR="5080">
              <a:lnSpc>
                <a:spcPct val="151100"/>
              </a:lnSpc>
            </a:pPr>
            <a:r>
              <a:rPr dirty="0" sz="2000" spc="-20">
                <a:solidFill>
                  <a:srgbClr val="404040"/>
                </a:solidFill>
                <a:latin typeface="Calibri"/>
                <a:cs typeface="Calibri"/>
              </a:rPr>
              <a:t>printf("Enter</a:t>
            </a:r>
            <a:r>
              <a:rPr dirty="0" sz="2000" spc="-3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vehicle</a:t>
            </a:r>
            <a:r>
              <a:rPr dirty="0" sz="20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type</a:t>
            </a:r>
            <a:r>
              <a:rPr dirty="0" sz="20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404040"/>
                </a:solidFill>
                <a:latin typeface="Calibri"/>
                <a:cs typeface="Calibri"/>
              </a:rPr>
              <a:t>(Bike/Car/Truck):</a:t>
            </a:r>
            <a:r>
              <a:rPr dirty="0" sz="2000" spc="-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25">
                <a:solidFill>
                  <a:srgbClr val="404040"/>
                </a:solidFill>
                <a:latin typeface="Calibri"/>
                <a:cs typeface="Calibri"/>
              </a:rPr>
              <a:t>");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scanf("%s",</a:t>
            </a:r>
            <a:r>
              <a:rPr dirty="0" sz="20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v.type);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05"/>
              </a:spcBef>
            </a:pPr>
            <a:endParaRPr sz="2000">
              <a:latin typeface="Calibri"/>
              <a:cs typeface="Calibri"/>
            </a:endParaRPr>
          </a:p>
          <a:p>
            <a:pPr marL="12700" marR="1565275">
              <a:lnSpc>
                <a:spcPct val="151100"/>
              </a:lnSpc>
            </a:pPr>
            <a:r>
              <a:rPr dirty="0" sz="2000" spc="-20">
                <a:solidFill>
                  <a:srgbClr val="404040"/>
                </a:solidFill>
                <a:latin typeface="Calibri"/>
                <a:cs typeface="Calibri"/>
              </a:rPr>
              <a:t>printf("Enter</a:t>
            </a:r>
            <a:r>
              <a:rPr dirty="0" sz="20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parking</a:t>
            </a:r>
            <a:r>
              <a:rPr dirty="0" sz="20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hours:</a:t>
            </a:r>
            <a:r>
              <a:rPr dirty="0" sz="20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25">
                <a:solidFill>
                  <a:srgbClr val="404040"/>
                </a:solidFill>
                <a:latin typeface="Calibri"/>
                <a:cs typeface="Calibri"/>
              </a:rPr>
              <a:t>");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scanf("%d",</a:t>
            </a:r>
            <a:r>
              <a:rPr dirty="0" sz="20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&amp;v.hours);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9636" y="-169621"/>
            <a:ext cx="2686050" cy="94678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1100"/>
              </a:lnSpc>
              <a:spcBef>
                <a:spcPts val="100"/>
              </a:spcBef>
            </a:pPr>
            <a:r>
              <a:rPr dirty="0" sz="2000" spc="-25">
                <a:solidFill>
                  <a:srgbClr val="404040"/>
                </a:solidFill>
              </a:rPr>
              <a:t>fwrite(&amp;v,</a:t>
            </a:r>
            <a:r>
              <a:rPr dirty="0" sz="2000" spc="-15">
                <a:solidFill>
                  <a:srgbClr val="404040"/>
                </a:solidFill>
              </a:rPr>
              <a:t> </a:t>
            </a:r>
            <a:r>
              <a:rPr dirty="0" sz="2000" spc="-10">
                <a:solidFill>
                  <a:srgbClr val="404040"/>
                </a:solidFill>
              </a:rPr>
              <a:t>sizeof(v),</a:t>
            </a:r>
            <a:r>
              <a:rPr dirty="0" sz="2000" spc="-30">
                <a:solidFill>
                  <a:srgbClr val="404040"/>
                </a:solidFill>
              </a:rPr>
              <a:t> </a:t>
            </a:r>
            <a:r>
              <a:rPr dirty="0" sz="2000">
                <a:solidFill>
                  <a:srgbClr val="404040"/>
                </a:solidFill>
              </a:rPr>
              <a:t>1,</a:t>
            </a:r>
            <a:r>
              <a:rPr dirty="0" sz="2000" spc="-35">
                <a:solidFill>
                  <a:srgbClr val="404040"/>
                </a:solidFill>
              </a:rPr>
              <a:t> </a:t>
            </a:r>
            <a:r>
              <a:rPr dirty="0" sz="2000" spc="-20">
                <a:solidFill>
                  <a:srgbClr val="404040"/>
                </a:solidFill>
              </a:rPr>
              <a:t>fp); </a:t>
            </a:r>
            <a:r>
              <a:rPr dirty="0" sz="2000" spc="-10">
                <a:solidFill>
                  <a:srgbClr val="404040"/>
                </a:solidFill>
              </a:rPr>
              <a:t>fclose(fp);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157987" y="1212265"/>
            <a:ext cx="4304665" cy="946150"/>
          </a:xfrm>
          <a:prstGeom prst="rect">
            <a:avLst/>
          </a:prstGeom>
        </p:spPr>
        <p:txBody>
          <a:bodyPr wrap="square" lIns="0" tIns="168275" rIns="0" bIns="0" rtlCol="0" vert="horz">
            <a:spAutoFit/>
          </a:bodyPr>
          <a:lstStyle/>
          <a:p>
            <a:pPr marL="243840">
              <a:lnSpc>
                <a:spcPct val="100000"/>
              </a:lnSpc>
              <a:spcBef>
                <a:spcPts val="1325"/>
              </a:spcBef>
            </a:pPr>
            <a:r>
              <a:rPr dirty="0" sz="2000" spc="-25">
                <a:solidFill>
                  <a:srgbClr val="404040"/>
                </a:solidFill>
                <a:latin typeface="Calibri"/>
                <a:cs typeface="Calibri"/>
              </a:rPr>
              <a:t>printf("Vehicle</a:t>
            </a:r>
            <a:r>
              <a:rPr dirty="0" sz="2000" spc="-6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parked</a:t>
            </a:r>
            <a:r>
              <a:rPr dirty="0" sz="2000" spc="-2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successfully.\n");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2000" spc="-50">
                <a:solidFill>
                  <a:srgbClr val="404040"/>
                </a:solidFill>
                <a:latin typeface="Calibri"/>
                <a:cs typeface="Calibri"/>
              </a:rPr>
              <a:t>}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3331" y="-160477"/>
            <a:ext cx="3310254" cy="5743575"/>
          </a:xfrm>
          <a:prstGeom prst="rect">
            <a:avLst/>
          </a:prstGeom>
        </p:spPr>
        <p:txBody>
          <a:bodyPr wrap="square" lIns="0" tIns="1593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5"/>
              </a:spcBef>
            </a:pPr>
            <a:r>
              <a:rPr dirty="0" sz="2000" b="1">
                <a:solidFill>
                  <a:srgbClr val="404040"/>
                </a:solidFill>
                <a:latin typeface="Calibri"/>
                <a:cs typeface="Calibri"/>
              </a:rPr>
              <a:t>Sample</a:t>
            </a:r>
            <a:r>
              <a:rPr dirty="0" sz="2000" spc="-75" b="1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404040"/>
                </a:solidFill>
                <a:latin typeface="Calibri"/>
                <a:cs typeface="Calibri"/>
              </a:rPr>
              <a:t>Output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Program</a:t>
            </a:r>
            <a:r>
              <a:rPr dirty="0" sz="2000" spc="-7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404040"/>
                </a:solidFill>
                <a:latin typeface="Calibri"/>
                <a:cs typeface="Calibri"/>
              </a:rPr>
              <a:t>Menu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 sz="2000" spc="-30">
                <a:solidFill>
                  <a:srgbClr val="404040"/>
                </a:solidFill>
                <a:latin typeface="Calibri"/>
                <a:cs typeface="Calibri"/>
              </a:rPr>
              <a:t>-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--</a:t>
            </a:r>
            <a:r>
              <a:rPr dirty="0" sz="20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VEHICLE</a:t>
            </a:r>
            <a:r>
              <a:rPr dirty="0" sz="2000" spc="-4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404040"/>
                </a:solidFill>
                <a:latin typeface="Calibri"/>
                <a:cs typeface="Calibri"/>
              </a:rPr>
              <a:t>PARKING</a:t>
            </a:r>
            <a:r>
              <a:rPr dirty="0" sz="2000" spc="-6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SYSTEM</a:t>
            </a:r>
            <a:r>
              <a:rPr dirty="0" sz="2000" spc="-4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30">
                <a:solidFill>
                  <a:srgbClr val="404040"/>
                </a:solidFill>
                <a:latin typeface="Calibri"/>
                <a:cs typeface="Calibri"/>
              </a:rPr>
              <a:t>-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-</a:t>
            </a:r>
            <a:r>
              <a:rPr dirty="0" sz="2000" spc="-50">
                <a:solidFill>
                  <a:srgbClr val="404040"/>
                </a:solidFill>
                <a:latin typeface="Calibri"/>
                <a:cs typeface="Calibri"/>
              </a:rPr>
              <a:t>-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2000">
              <a:latin typeface="Calibri"/>
              <a:cs typeface="Calibri"/>
            </a:endParaRPr>
          </a:p>
          <a:p>
            <a:pPr marL="266065" indent="-247650">
              <a:lnSpc>
                <a:spcPct val="100000"/>
              </a:lnSpc>
              <a:buAutoNum type="arabicPeriod"/>
              <a:tabLst>
                <a:tab pos="266065" algn="l"/>
              </a:tabLst>
            </a:pP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Park</a:t>
            </a:r>
            <a:r>
              <a:rPr dirty="0" sz="2000" spc="-6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Vehicle</a:t>
            </a:r>
            <a:endParaRPr sz="2000">
              <a:latin typeface="Calibri"/>
              <a:cs typeface="Calibri"/>
            </a:endParaRPr>
          </a:p>
          <a:p>
            <a:pPr marL="266065" indent="-247650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266065" algn="l"/>
              </a:tabLst>
            </a:pP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Display</a:t>
            </a:r>
            <a:r>
              <a:rPr dirty="0" sz="20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Parked</a:t>
            </a:r>
            <a:r>
              <a:rPr dirty="0" sz="2000" spc="-9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Vehicles</a:t>
            </a:r>
            <a:endParaRPr sz="2000">
              <a:latin typeface="Calibri"/>
              <a:cs typeface="Calibri"/>
            </a:endParaRPr>
          </a:p>
          <a:p>
            <a:pPr marL="266065" indent="-247650">
              <a:lnSpc>
                <a:spcPct val="100000"/>
              </a:lnSpc>
              <a:spcBef>
                <a:spcPts val="244"/>
              </a:spcBef>
              <a:buAutoNum type="arabicPeriod"/>
              <a:tabLst>
                <a:tab pos="266065" algn="l"/>
              </a:tabLst>
            </a:pP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Calculate</a:t>
            </a:r>
            <a:r>
              <a:rPr dirty="0" sz="2000" spc="-8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Parking</a:t>
            </a:r>
            <a:r>
              <a:rPr dirty="0" sz="20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Charge</a:t>
            </a:r>
            <a:endParaRPr sz="2000">
              <a:latin typeface="Calibri"/>
              <a:cs typeface="Calibri"/>
            </a:endParaRPr>
          </a:p>
          <a:p>
            <a:pPr marL="266065" indent="-247650">
              <a:lnSpc>
                <a:spcPct val="100000"/>
              </a:lnSpc>
              <a:spcBef>
                <a:spcPts val="215"/>
              </a:spcBef>
              <a:buAutoNum type="arabicPeriod"/>
              <a:tabLst>
                <a:tab pos="266065" algn="l"/>
              </a:tabLst>
            </a:pPr>
            <a:r>
              <a:rPr dirty="0" sz="2000" spc="-20">
                <a:solidFill>
                  <a:srgbClr val="404040"/>
                </a:solidFill>
                <a:latin typeface="Calibri"/>
                <a:cs typeface="Calibri"/>
              </a:rPr>
              <a:t>Exit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Example</a:t>
            </a:r>
            <a:endParaRPr sz="2000">
              <a:latin typeface="Calibri"/>
              <a:cs typeface="Calibri"/>
            </a:endParaRPr>
          </a:p>
          <a:p>
            <a:pPr marL="18415" marR="447040" indent="-6350">
              <a:lnSpc>
                <a:spcPct val="110100"/>
              </a:lnSpc>
              <a:spcBef>
                <a:spcPts val="910"/>
              </a:spcBef>
            </a:pP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Enter</a:t>
            </a:r>
            <a:r>
              <a:rPr dirty="0" sz="2000" spc="-8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vehicle</a:t>
            </a:r>
            <a:r>
              <a:rPr dirty="0" sz="2000" spc="-9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number:</a:t>
            </a:r>
            <a:r>
              <a:rPr dirty="0" sz="2000" spc="-8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404040"/>
                </a:solidFill>
                <a:latin typeface="Calibri"/>
                <a:cs typeface="Calibri"/>
              </a:rPr>
              <a:t>1234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Enter</a:t>
            </a:r>
            <a:r>
              <a:rPr dirty="0" sz="2000" spc="-7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vehicle</a:t>
            </a:r>
            <a:r>
              <a:rPr dirty="0" sz="2000" spc="-8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type:</a:t>
            </a:r>
            <a:r>
              <a:rPr dirty="0" sz="2000" spc="-7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25">
                <a:solidFill>
                  <a:srgbClr val="404040"/>
                </a:solidFill>
                <a:latin typeface="Calibri"/>
                <a:cs typeface="Calibri"/>
              </a:rPr>
              <a:t>Car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Enter</a:t>
            </a:r>
            <a:r>
              <a:rPr dirty="0" sz="2000" spc="-7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parking</a:t>
            </a:r>
            <a:r>
              <a:rPr dirty="0" sz="2000" spc="-7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hours:</a:t>
            </a:r>
            <a:r>
              <a:rPr dirty="0" sz="2000" spc="-7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50">
                <a:solidFill>
                  <a:srgbClr val="404040"/>
                </a:solidFill>
                <a:latin typeface="Calibri"/>
                <a:cs typeface="Calibri"/>
              </a:rPr>
              <a:t>5</a:t>
            </a:r>
            <a:endParaRPr sz="2000">
              <a:latin typeface="Calibri"/>
              <a:cs typeface="Calibri"/>
            </a:endParaRPr>
          </a:p>
          <a:p>
            <a:pPr marL="12700" marR="459740" indent="5715">
              <a:lnSpc>
                <a:spcPct val="148000"/>
              </a:lnSpc>
              <a:spcBef>
                <a:spcPts val="1705"/>
              </a:spcBef>
            </a:pPr>
            <a:r>
              <a:rPr dirty="0" sz="2000" spc="-20">
                <a:solidFill>
                  <a:srgbClr val="404040"/>
                </a:solidFill>
                <a:latin typeface="Calibri"/>
                <a:cs typeface="Calibri"/>
              </a:rPr>
              <a:t>Vehicle</a:t>
            </a:r>
            <a:r>
              <a:rPr dirty="0" sz="2000" spc="-8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parked</a:t>
            </a:r>
            <a:r>
              <a:rPr dirty="0" sz="2000" spc="-7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404040"/>
                </a:solidFill>
                <a:latin typeface="Calibri"/>
                <a:cs typeface="Calibri"/>
              </a:rPr>
              <a:t>successfully.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Charge</a:t>
            </a:r>
            <a:r>
              <a:rPr dirty="0" sz="2000" spc="-11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Calculation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43331" y="-41605"/>
            <a:ext cx="3032125" cy="6908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8415" marR="5080" indent="-6350">
              <a:lnSpc>
                <a:spcPct val="109100"/>
              </a:lnSpc>
              <a:spcBef>
                <a:spcPts val="100"/>
              </a:spcBef>
            </a:pPr>
            <a:r>
              <a:rPr dirty="0" sz="2000">
                <a:solidFill>
                  <a:srgbClr val="404040"/>
                </a:solidFill>
              </a:rPr>
              <a:t>Enter</a:t>
            </a:r>
            <a:r>
              <a:rPr dirty="0" sz="2000" spc="-80">
                <a:solidFill>
                  <a:srgbClr val="404040"/>
                </a:solidFill>
              </a:rPr>
              <a:t> </a:t>
            </a:r>
            <a:r>
              <a:rPr dirty="0" sz="2000">
                <a:solidFill>
                  <a:srgbClr val="404040"/>
                </a:solidFill>
              </a:rPr>
              <a:t>vehicle</a:t>
            </a:r>
            <a:r>
              <a:rPr dirty="0" sz="2000" spc="-90">
                <a:solidFill>
                  <a:srgbClr val="404040"/>
                </a:solidFill>
              </a:rPr>
              <a:t> </a:t>
            </a:r>
            <a:r>
              <a:rPr dirty="0" sz="2000">
                <a:solidFill>
                  <a:srgbClr val="404040"/>
                </a:solidFill>
              </a:rPr>
              <a:t>number:</a:t>
            </a:r>
            <a:r>
              <a:rPr dirty="0" sz="2000" spc="-80">
                <a:solidFill>
                  <a:srgbClr val="404040"/>
                </a:solidFill>
              </a:rPr>
              <a:t> </a:t>
            </a:r>
            <a:r>
              <a:rPr dirty="0" sz="2000" spc="-20">
                <a:solidFill>
                  <a:srgbClr val="404040"/>
                </a:solidFill>
              </a:rPr>
              <a:t>1234 </a:t>
            </a:r>
            <a:r>
              <a:rPr dirty="0" sz="2000" spc="-30">
                <a:solidFill>
                  <a:srgbClr val="404040"/>
                </a:solidFill>
              </a:rPr>
              <a:t>Total</a:t>
            </a:r>
            <a:r>
              <a:rPr dirty="0" sz="2000" spc="-60">
                <a:solidFill>
                  <a:srgbClr val="404040"/>
                </a:solidFill>
              </a:rPr>
              <a:t> </a:t>
            </a:r>
            <a:r>
              <a:rPr dirty="0" sz="2000">
                <a:solidFill>
                  <a:srgbClr val="404040"/>
                </a:solidFill>
              </a:rPr>
              <a:t>parking</a:t>
            </a:r>
            <a:r>
              <a:rPr dirty="0" sz="2000" spc="-60">
                <a:solidFill>
                  <a:srgbClr val="404040"/>
                </a:solidFill>
              </a:rPr>
              <a:t> </a:t>
            </a:r>
            <a:r>
              <a:rPr dirty="0" sz="2000">
                <a:solidFill>
                  <a:srgbClr val="404040"/>
                </a:solidFill>
              </a:rPr>
              <a:t>charge</a:t>
            </a:r>
            <a:r>
              <a:rPr dirty="0" sz="2000" spc="-70">
                <a:solidFill>
                  <a:srgbClr val="404040"/>
                </a:solidFill>
              </a:rPr>
              <a:t> </a:t>
            </a:r>
            <a:r>
              <a:rPr dirty="0" sz="2000">
                <a:solidFill>
                  <a:srgbClr val="404040"/>
                </a:solidFill>
              </a:rPr>
              <a:t>=</a:t>
            </a:r>
            <a:r>
              <a:rPr dirty="0" sz="2000" spc="-40">
                <a:solidFill>
                  <a:srgbClr val="404040"/>
                </a:solidFill>
              </a:rPr>
              <a:t> </a:t>
            </a:r>
            <a:r>
              <a:rPr dirty="0" sz="2000" spc="-10">
                <a:solidFill>
                  <a:srgbClr val="404040"/>
                </a:solidFill>
              </a:rPr>
              <a:t>Rs.100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554532" y="1222375"/>
            <a:ext cx="3166110" cy="39439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alibri"/>
                <a:cs typeface="Calibri"/>
              </a:rPr>
              <a:t>Advantages</a:t>
            </a:r>
            <a:endParaRPr sz="1800">
              <a:latin typeface="Calibri"/>
              <a:cs typeface="Calibri"/>
            </a:endParaRPr>
          </a:p>
          <a:p>
            <a:pPr marL="532765" indent="-182245">
              <a:lnSpc>
                <a:spcPct val="100000"/>
              </a:lnSpc>
              <a:spcBef>
                <a:spcPts val="1555"/>
              </a:spcBef>
              <a:buClr>
                <a:srgbClr val="404040"/>
              </a:buClr>
              <a:buFont typeface="Calibri"/>
              <a:buChar char="•"/>
              <a:tabLst>
                <a:tab pos="532765" algn="l"/>
              </a:tabLst>
            </a:pP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Easy</a:t>
            </a:r>
            <a:r>
              <a:rPr dirty="0" sz="20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20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25">
                <a:solidFill>
                  <a:srgbClr val="404040"/>
                </a:solidFill>
                <a:latin typeface="Calibri"/>
                <a:cs typeface="Calibri"/>
              </a:rPr>
              <a:t>use</a:t>
            </a:r>
            <a:endParaRPr sz="2000">
              <a:latin typeface="Calibri"/>
              <a:cs typeface="Calibri"/>
            </a:endParaRPr>
          </a:p>
          <a:p>
            <a:pPr marL="532765" indent="-182245">
              <a:lnSpc>
                <a:spcPct val="100000"/>
              </a:lnSpc>
              <a:spcBef>
                <a:spcPts val="240"/>
              </a:spcBef>
              <a:buClr>
                <a:srgbClr val="404040"/>
              </a:buClr>
              <a:buFont typeface="Calibri"/>
              <a:buChar char="•"/>
              <a:tabLst>
                <a:tab pos="532765" algn="l"/>
              </a:tabLst>
            </a:pP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Simple</a:t>
            </a:r>
            <a:r>
              <a:rPr dirty="0" sz="2000" spc="-6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implementation</a:t>
            </a:r>
            <a:endParaRPr sz="2000">
              <a:latin typeface="Calibri"/>
              <a:cs typeface="Calibri"/>
            </a:endParaRPr>
          </a:p>
          <a:p>
            <a:pPr marL="532765" indent="-182245">
              <a:lnSpc>
                <a:spcPct val="100000"/>
              </a:lnSpc>
              <a:spcBef>
                <a:spcPts val="215"/>
              </a:spcBef>
              <a:buClr>
                <a:srgbClr val="404040"/>
              </a:buClr>
              <a:buFont typeface="Calibri"/>
              <a:buChar char="•"/>
              <a:tabLst>
                <a:tab pos="532765" algn="l"/>
              </a:tabLst>
            </a:pP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Fast</a:t>
            </a:r>
            <a:r>
              <a:rPr dirty="0" sz="2000" spc="-10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execution</a:t>
            </a:r>
            <a:endParaRPr sz="2000">
              <a:latin typeface="Calibri"/>
              <a:cs typeface="Calibri"/>
            </a:endParaRPr>
          </a:p>
          <a:p>
            <a:pPr marL="532765" indent="-182245">
              <a:lnSpc>
                <a:spcPct val="100000"/>
              </a:lnSpc>
              <a:spcBef>
                <a:spcPts val="244"/>
              </a:spcBef>
              <a:buClr>
                <a:srgbClr val="404040"/>
              </a:buClr>
              <a:buFont typeface="Calibri"/>
              <a:buChar char="•"/>
              <a:tabLst>
                <a:tab pos="532765" algn="l"/>
              </a:tabLst>
            </a:pP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File</a:t>
            </a:r>
            <a:r>
              <a:rPr dirty="0" sz="2000" spc="-6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based</a:t>
            </a:r>
            <a:r>
              <a:rPr dirty="0" sz="20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dirty="0" sz="2000" spc="-5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storage</a:t>
            </a:r>
            <a:endParaRPr sz="2000">
              <a:latin typeface="Calibri"/>
              <a:cs typeface="Calibri"/>
            </a:endParaRPr>
          </a:p>
          <a:p>
            <a:pPr marL="532765" indent="-182245">
              <a:lnSpc>
                <a:spcPct val="100000"/>
              </a:lnSpc>
              <a:spcBef>
                <a:spcPts val="240"/>
              </a:spcBef>
              <a:buClr>
                <a:srgbClr val="404040"/>
              </a:buClr>
              <a:buFont typeface="Calibri"/>
              <a:buChar char="•"/>
              <a:tabLst>
                <a:tab pos="532765" algn="l"/>
              </a:tabLst>
            </a:pP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Easy</a:t>
            </a:r>
            <a:r>
              <a:rPr dirty="0" sz="20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dirty="0" sz="2000" spc="-55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404040"/>
                </a:solidFill>
                <a:latin typeface="Calibri"/>
                <a:cs typeface="Calibri"/>
              </a:rPr>
              <a:t>extend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800" b="1">
                <a:latin typeface="Calibri"/>
                <a:cs typeface="Calibri"/>
              </a:rPr>
              <a:t>Future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Enhancements</a:t>
            </a:r>
            <a:endParaRPr sz="1800">
              <a:latin typeface="Calibri"/>
              <a:cs typeface="Calibri"/>
            </a:endParaRPr>
          </a:p>
          <a:p>
            <a:pPr marL="228600" indent="-164465">
              <a:lnSpc>
                <a:spcPct val="100000"/>
              </a:lnSpc>
              <a:spcBef>
                <a:spcPts val="215"/>
              </a:spcBef>
              <a:buChar char="•"/>
              <a:tabLst>
                <a:tab pos="228600" algn="l"/>
              </a:tabLst>
            </a:pPr>
            <a:r>
              <a:rPr dirty="0" sz="1800">
                <a:latin typeface="Calibri"/>
                <a:cs typeface="Calibri"/>
              </a:rPr>
              <a:t>Add</a:t>
            </a:r>
            <a:r>
              <a:rPr dirty="0" sz="1800" spc="-8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graphical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user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interface</a:t>
            </a:r>
            <a:endParaRPr sz="1800">
              <a:latin typeface="Calibri"/>
              <a:cs typeface="Calibri"/>
            </a:endParaRPr>
          </a:p>
          <a:p>
            <a:pPr marL="177165" indent="-164465">
              <a:lnSpc>
                <a:spcPct val="100000"/>
              </a:lnSpc>
              <a:spcBef>
                <a:spcPts val="195"/>
              </a:spcBef>
              <a:buChar char="•"/>
              <a:tabLst>
                <a:tab pos="177165" algn="l"/>
              </a:tabLst>
            </a:pPr>
            <a:r>
              <a:rPr dirty="0" sz="1800">
                <a:latin typeface="Calibri"/>
                <a:cs typeface="Calibri"/>
              </a:rPr>
              <a:t>Add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parking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slot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management</a:t>
            </a:r>
            <a:endParaRPr sz="1800">
              <a:latin typeface="Calibri"/>
              <a:cs typeface="Calibri"/>
            </a:endParaRPr>
          </a:p>
          <a:p>
            <a:pPr marL="177165" indent="-164465">
              <a:lnSpc>
                <a:spcPct val="100000"/>
              </a:lnSpc>
              <a:spcBef>
                <a:spcPts val="195"/>
              </a:spcBef>
              <a:buChar char="•"/>
              <a:tabLst>
                <a:tab pos="177165" algn="l"/>
              </a:tabLst>
            </a:pPr>
            <a:r>
              <a:rPr dirty="0" sz="1800">
                <a:latin typeface="Calibri"/>
                <a:cs typeface="Calibri"/>
              </a:rPr>
              <a:t>Add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entry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exit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time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tracking</a:t>
            </a:r>
            <a:endParaRPr sz="1800">
              <a:latin typeface="Calibri"/>
              <a:cs typeface="Calibri"/>
            </a:endParaRPr>
          </a:p>
          <a:p>
            <a:pPr marL="177165" indent="-164465">
              <a:lnSpc>
                <a:spcPct val="100000"/>
              </a:lnSpc>
              <a:spcBef>
                <a:spcPts val="215"/>
              </a:spcBef>
              <a:buChar char="•"/>
              <a:tabLst>
                <a:tab pos="177165" algn="l"/>
              </a:tabLst>
            </a:pPr>
            <a:r>
              <a:rPr dirty="0" sz="1800">
                <a:latin typeface="Calibri"/>
                <a:cs typeface="Calibri"/>
              </a:rPr>
              <a:t>Add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automatic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billing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system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3331" y="258825"/>
            <a:ext cx="7202170" cy="2675255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1800" spc="-10" b="1">
                <a:latin typeface="Calibri"/>
                <a:cs typeface="Calibri"/>
              </a:rPr>
              <a:t>Conclusion</a:t>
            </a:r>
            <a:endParaRPr sz="1800">
              <a:latin typeface="Calibri"/>
              <a:cs typeface="Calibri"/>
            </a:endParaRPr>
          </a:p>
          <a:p>
            <a:pPr marL="18415" marR="5080" indent="-6350">
              <a:lnSpc>
                <a:spcPct val="105700"/>
              </a:lnSpc>
              <a:spcBef>
                <a:spcPts val="70"/>
              </a:spcBef>
              <a:buChar char="•"/>
              <a:tabLst>
                <a:tab pos="18415" algn="l"/>
                <a:tab pos="177165" algn="l"/>
              </a:tabLst>
            </a:pPr>
            <a:r>
              <a:rPr dirty="0" sz="1800">
                <a:latin typeface="Calibri"/>
                <a:cs typeface="Calibri"/>
              </a:rPr>
              <a:t>	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Vehicle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Parking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Management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System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simple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application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developed </a:t>
            </a:r>
            <a:r>
              <a:rPr dirty="0" sz="1800">
                <a:latin typeface="Calibri"/>
                <a:cs typeface="Calibri"/>
              </a:rPr>
              <a:t>using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programming.</a:t>
            </a:r>
            <a:endParaRPr sz="1800">
              <a:latin typeface="Calibri"/>
              <a:cs typeface="Calibri"/>
            </a:endParaRPr>
          </a:p>
          <a:p>
            <a:pPr marL="18415" marR="232410" indent="-6350">
              <a:lnSpc>
                <a:spcPct val="104500"/>
              </a:lnSpc>
              <a:spcBef>
                <a:spcPts val="95"/>
              </a:spcBef>
              <a:buChar char="•"/>
              <a:tabLst>
                <a:tab pos="18415" algn="l"/>
                <a:tab pos="177165" algn="l"/>
              </a:tabLst>
            </a:pPr>
            <a:r>
              <a:rPr dirty="0" sz="1800">
                <a:latin typeface="Calibri"/>
                <a:cs typeface="Calibri"/>
              </a:rPr>
              <a:t>	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system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demonstrates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use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structures,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file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handling,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and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menu-</a:t>
            </a:r>
            <a:r>
              <a:rPr dirty="0" sz="1800" b="1">
                <a:latin typeface="Calibri"/>
                <a:cs typeface="Calibri"/>
              </a:rPr>
              <a:t>driven</a:t>
            </a:r>
            <a:r>
              <a:rPr dirty="0" sz="1800" spc="-7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programming</a:t>
            </a:r>
            <a:r>
              <a:rPr dirty="0" sz="1800" spc="-1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18415" marR="993775" indent="-6350">
              <a:lnSpc>
                <a:spcPct val="104600"/>
              </a:lnSpc>
              <a:spcBef>
                <a:spcPts val="114"/>
              </a:spcBef>
              <a:buChar char="•"/>
              <a:tabLst>
                <a:tab pos="18415" algn="l"/>
                <a:tab pos="177165" algn="l"/>
              </a:tabLst>
            </a:pPr>
            <a:r>
              <a:rPr dirty="0" sz="1800">
                <a:latin typeface="Calibri"/>
                <a:cs typeface="Calibri"/>
              </a:rPr>
              <a:t>	</a:t>
            </a:r>
            <a:r>
              <a:rPr dirty="0" sz="1800">
                <a:latin typeface="Calibri"/>
                <a:cs typeface="Calibri"/>
              </a:rPr>
              <a:t>It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efficiently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stores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vehicle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records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calculates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parking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charges automatically.</a:t>
            </a:r>
            <a:endParaRPr sz="1800">
              <a:latin typeface="Calibri"/>
              <a:cs typeface="Calibri"/>
            </a:endParaRPr>
          </a:p>
          <a:p>
            <a:pPr marL="18415" marR="593725" indent="-6350">
              <a:lnSpc>
                <a:spcPct val="105600"/>
              </a:lnSpc>
              <a:spcBef>
                <a:spcPts val="70"/>
              </a:spcBef>
              <a:buChar char="•"/>
              <a:tabLst>
                <a:tab pos="18415" algn="l"/>
                <a:tab pos="177165" algn="l"/>
              </a:tabLst>
            </a:pPr>
            <a:r>
              <a:rPr dirty="0" sz="1800">
                <a:latin typeface="Calibri"/>
                <a:cs typeface="Calibri"/>
              </a:rPr>
              <a:t>	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project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provides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practical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understanding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real-</a:t>
            </a:r>
            <a:r>
              <a:rPr dirty="0" sz="1800" b="1">
                <a:latin typeface="Calibri"/>
                <a:cs typeface="Calibri"/>
              </a:rPr>
              <a:t>world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problem </a:t>
            </a:r>
            <a:r>
              <a:rPr dirty="0" sz="1800" b="1">
                <a:latin typeface="Calibri"/>
                <a:cs typeface="Calibri"/>
              </a:rPr>
              <a:t>solving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using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programming</a:t>
            </a:r>
            <a:r>
              <a:rPr dirty="0" sz="1800" spc="-1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92860" y="264617"/>
            <a:ext cx="2562225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>
                <a:solidFill>
                  <a:srgbClr val="404040"/>
                </a:solidFill>
              </a:rPr>
              <a:t>Thank</a:t>
            </a:r>
            <a:r>
              <a:rPr dirty="0" sz="4800" spc="-135">
                <a:solidFill>
                  <a:srgbClr val="404040"/>
                </a:solidFill>
              </a:rPr>
              <a:t> </a:t>
            </a:r>
            <a:r>
              <a:rPr dirty="0" sz="4800" spc="-75">
                <a:solidFill>
                  <a:srgbClr val="404040"/>
                </a:solidFill>
              </a:rPr>
              <a:t>You</a:t>
            </a:r>
            <a:endParaRPr sz="48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587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pc="-20"/>
              <a:t>Submitted</a:t>
            </a:r>
            <a:r>
              <a:rPr dirty="0" spc="-40"/>
              <a:t> </a:t>
            </a:r>
            <a:r>
              <a:rPr dirty="0" spc="-25"/>
              <a:t>By:</a:t>
            </a:r>
          </a:p>
          <a:p>
            <a:pPr marL="12700" marR="5080">
              <a:lnSpc>
                <a:spcPts val="3550"/>
              </a:lnSpc>
              <a:spcBef>
                <a:spcPts val="315"/>
              </a:spcBef>
            </a:pPr>
            <a:r>
              <a:rPr dirty="0" spc="-10"/>
              <a:t>S.Jayaram</a:t>
            </a:r>
            <a:r>
              <a:rPr dirty="0" spc="-80"/>
              <a:t> </a:t>
            </a:r>
            <a:r>
              <a:rPr dirty="0"/>
              <a:t>Siva</a:t>
            </a:r>
            <a:r>
              <a:rPr dirty="0" spc="-65"/>
              <a:t> </a:t>
            </a:r>
            <a:r>
              <a:rPr dirty="0" spc="-10"/>
              <a:t>Prasad</a:t>
            </a:r>
            <a:r>
              <a:rPr dirty="0" spc="-65"/>
              <a:t> </a:t>
            </a:r>
            <a:r>
              <a:rPr dirty="0" spc="-10"/>
              <a:t>(25A31A05GB) D.Rohit</a:t>
            </a:r>
            <a:r>
              <a:rPr dirty="0" spc="-80"/>
              <a:t> </a:t>
            </a:r>
            <a:r>
              <a:rPr dirty="0" spc="-10"/>
              <a:t>(25A31A05FZ)</a:t>
            </a: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dirty="0"/>
              <a:t>S.Sairam</a:t>
            </a:r>
            <a:r>
              <a:rPr dirty="0" spc="-105"/>
              <a:t> </a:t>
            </a:r>
            <a:r>
              <a:rPr dirty="0" spc="-10"/>
              <a:t>(25A31A05GA)</a:t>
            </a: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dirty="0"/>
              <a:t>Nikhil</a:t>
            </a:r>
            <a:r>
              <a:rPr dirty="0" spc="-60"/>
              <a:t> </a:t>
            </a:r>
            <a:r>
              <a:rPr dirty="0" spc="-10"/>
              <a:t>(25A31A05FY)</a:t>
            </a:r>
          </a:p>
        </p:txBody>
      </p:sp>
      <p:sp>
        <p:nvSpPr>
          <p:cNvPr id="4" name="object 4"/>
          <p:cNvSpPr/>
          <p:nvPr/>
        </p:nvSpPr>
        <p:spPr>
          <a:xfrm>
            <a:off x="895350" y="1275333"/>
            <a:ext cx="7474584" cy="0"/>
          </a:xfrm>
          <a:custGeom>
            <a:avLst/>
            <a:gdLst/>
            <a:ahLst/>
            <a:cxnLst/>
            <a:rect l="l" t="t" r="r" b="b"/>
            <a:pathLst>
              <a:path w="7474584" h="0">
                <a:moveTo>
                  <a:pt x="0" y="0"/>
                </a:moveTo>
                <a:lnTo>
                  <a:pt x="7474584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motepalli haranath</dc:creator>
  <dcterms:created xsi:type="dcterms:W3CDTF">2026-05-01T13:58:11Z</dcterms:created>
  <dcterms:modified xsi:type="dcterms:W3CDTF">2026-05-01T13:58:11Z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2026-03-11T00:00:00Z</vt:filetime>
  </property>
  <property fmtid="{D5CDD505-2E9C-101B-9397-08002B2CF9AE}" pid="4" name="Creator">
    <vt:lpwstr>Microsoft® Word 2016</vt:lpwstr>
  </property>
  <property fmtid="{D5CDD505-2E9C-101B-9397-08002B2CF9AE}" pid="5" name="LastSaved">
    <vt:filetime>2026-05-01T00:00:00Z</vt:filetime>
  </property>
  <property fmtid="{D5CDD505-2E9C-101B-9397-08002B2CF9AE}" pid="6" name="Producer">
    <vt:lpwstr>www.ilovepdf.com</vt:lpwstr>
  </property>
</Properties>
</file>